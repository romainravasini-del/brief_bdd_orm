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PT Sans Narrow"/>
      <p:regular r:id="rId19"/>
      <p:bold r:id="rId20"/>
    </p:embeddedFont>
    <p:embeddedFont>
      <p:font typeface="Inter"/>
      <p:regular r:id="rId21"/>
      <p:bold r:id="rId22"/>
      <p:italic r:id="rId23"/>
      <p:boldItalic r:id="rId24"/>
    </p:embeddedFont>
    <p:embeddedFont>
      <p:font typeface="Roboto Mono"/>
      <p:regular r:id="rId25"/>
      <p:bold r:id="rId26"/>
      <p:italic r:id="rId27"/>
      <p:boldItalic r:id="rId28"/>
    </p:embeddedFont>
    <p:embeddedFont>
      <p:font typeface="Open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9B592DF-6ECE-4167-B669-AC5812F129CF}">
  <a:tblStyle styleId="{39B592DF-6ECE-4167-B669-AC5812F129CF}" styleName="Table_0">
    <a:wholeTbl>
      <a:tcTxStyle>
        <a:font>
          <a:latin typeface="Arial"/>
          <a:ea typeface="Arial"/>
          <a:cs typeface="Arial"/>
        </a:font>
        <a:srgbClr val="000000"/>
      </a:tcTxStyle>
      <a:tcStyle>
        <a:tcBdr>
          <a:left>
            <a:ln cap="flat" cmpd="sng">
              <a:solidFill>
                <a:srgbClr val="FFFFFF"/>
              </a:solidFill>
              <a:prstDash val="solid"/>
              <a:round/>
              <a:headEnd len="sm" w="sm" type="none"/>
              <a:tailEnd len="sm" w="sm" type="none"/>
            </a:ln>
          </a:left>
          <a:right>
            <a:ln cap="flat" cmpd="sng">
              <a:solidFill>
                <a:srgbClr val="FFFFFF"/>
              </a:solidFill>
              <a:prstDash val="solid"/>
              <a:round/>
              <a:headEnd len="sm" w="sm" type="none"/>
              <a:tailEnd len="sm" w="sm" type="none"/>
            </a:ln>
          </a:right>
          <a:top>
            <a:ln cap="flat" cmpd="sng" w="12700">
              <a:solidFill>
                <a:srgbClr val="E2E8F0"/>
              </a:solidFill>
              <a:prstDash val="solid"/>
              <a:round/>
              <a:headEnd len="sm" w="sm" type="none"/>
              <a:tailEnd len="sm" w="sm" type="none"/>
            </a:ln>
          </a:top>
          <a:bottom>
            <a:ln cap="flat" cmpd="sng" w="12700">
              <a:solidFill>
                <a:srgbClr val="E2E8F0"/>
              </a:solidFill>
              <a:prstDash val="solid"/>
              <a:round/>
              <a:headEnd len="sm" w="sm" type="none"/>
              <a:tailEnd len="sm" w="sm" type="none"/>
            </a:ln>
          </a:bottom>
          <a:insideH>
            <a:ln cap="flat" cmpd="sng" w="12700">
              <a:solidFill>
                <a:srgbClr val="EDF2F7"/>
              </a:solidFill>
              <a:prstDash val="solid"/>
              <a:round/>
              <a:headEnd len="sm" w="sm" type="none"/>
              <a:tailEnd len="sm" w="sm" type="none"/>
            </a:ln>
          </a:insideH>
          <a:insideV>
            <a:ln cap="flat" cmpd="sng">
              <a:solidFill>
                <a:srgbClr val="FFFFFF"/>
              </a:solidFill>
              <a:prstDash val="solid"/>
              <a:round/>
              <a:headEnd len="sm" w="sm" type="none"/>
              <a:tailEnd len="sm" w="sm" type="none"/>
            </a:ln>
          </a:insideV>
        </a:tcBdr>
        <a:fill>
          <a:solidFill>
            <a:srgbClr val="FFFFFF"/>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b="on" i="off">
        <a:font>
          <a:latin typeface="Inter"/>
          <a:ea typeface="Inter"/>
          <a:cs typeface="Inter"/>
        </a:font>
        <a:srgbClr val="1A365D"/>
      </a:tcTxStyle>
      <a:tcStyle>
        <a:fill>
          <a:solidFill>
            <a:srgbClr val="F7FAFC"/>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TSansNarrow-bold.fntdata"/><Relationship Id="rId22" Type="http://schemas.openxmlformats.org/officeDocument/2006/relationships/font" Target="fonts/Inter-bold.fntdata"/><Relationship Id="rId21" Type="http://schemas.openxmlformats.org/officeDocument/2006/relationships/font" Target="fonts/Inter-regular.fntdata"/><Relationship Id="rId24" Type="http://schemas.openxmlformats.org/officeDocument/2006/relationships/font" Target="fonts/Inter-boldItalic.fntdata"/><Relationship Id="rId23" Type="http://schemas.openxmlformats.org/officeDocument/2006/relationships/font" Target="fonts/Inter-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Mono-bold.fntdata"/><Relationship Id="rId25" Type="http://schemas.openxmlformats.org/officeDocument/2006/relationships/font" Target="fonts/RobotoMono-regular.fntdata"/><Relationship Id="rId28" Type="http://schemas.openxmlformats.org/officeDocument/2006/relationships/font" Target="fonts/RobotoMono-boldItalic.fntdata"/><Relationship Id="rId27" Type="http://schemas.openxmlformats.org/officeDocument/2006/relationships/font" Target="fonts/RobotoMon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OpenSan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italic.fntdata"/><Relationship Id="rId30" Type="http://schemas.openxmlformats.org/officeDocument/2006/relationships/font" Target="fonts/OpenSans-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OpenSans-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PTSansNarrow-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h4ae13909823394fc_3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h4ae13909823394fc_3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h4ae13909823394fc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h4ae13909823394fc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h1dbbb2b9969db2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h1dbbb2b9969db2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dbbb2b9969db2e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dbbb2b9969db2e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4ae13909823394fc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4ae13909823394fc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h4ae13909823394fc_3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h4ae13909823394fc_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h4ae13909823394fc_3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h4ae13909823394fc_3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h4ae13909823394fc_3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h4ae13909823394fc_3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4ae13909823394fc_3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h4ae13909823394fc_3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4ae13909823394fc_3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h4ae13909823394fc_3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h4ae13909823394fc_3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h4ae13909823394fc_3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65" name="Shape 65"/>
        <p:cNvGrpSpPr/>
        <p:nvPr/>
      </p:nvGrpSpPr>
      <p:grpSpPr>
        <a:xfrm>
          <a:off x="0" y="0"/>
          <a:ext cx="0" cy="0"/>
          <a:chOff x="0" y="0"/>
          <a:chExt cx="0" cy="0"/>
        </a:xfrm>
      </p:grpSpPr>
      <p:sp>
        <p:nvSpPr>
          <p:cNvPr id="66" name="Google Shape;66;p13"/>
          <p:cNvSpPr txBox="1"/>
          <p:nvPr>
            <p:ph type="ctrTitle"/>
          </p:nvPr>
        </p:nvSpPr>
        <p:spPr>
          <a:xfrm>
            <a:off x="311708" y="318775"/>
            <a:ext cx="8520600" cy="2052600"/>
          </a:xfrm>
          <a:prstGeom prst="rect">
            <a:avLst/>
          </a:prstGeom>
        </p:spPr>
        <p:txBody>
          <a:bodyPr anchorCtr="0" anchor="b" bIns="91425" lIns="91425" spcFirstLastPara="1" rIns="91425" wrap="square" tIns="91425">
            <a:normAutofit/>
          </a:bodyPr>
          <a:lstStyle/>
          <a:p>
            <a:pPr indent="0" lvl="0" marL="0" rtl="0" algn="ctr">
              <a:lnSpc>
                <a:spcPct val="110000"/>
              </a:lnSpc>
              <a:spcBef>
                <a:spcPts val="2400"/>
              </a:spcBef>
              <a:spcAft>
                <a:spcPts val="0"/>
              </a:spcAft>
              <a:buNone/>
            </a:pPr>
            <a:r>
              <a:rPr b="1" lang="fr" sz="2400">
                <a:solidFill>
                  <a:srgbClr val="1A365D"/>
                </a:solidFill>
                <a:latin typeface="Inter"/>
                <a:ea typeface="Inter"/>
                <a:cs typeface="Inter"/>
                <a:sym typeface="Inter"/>
              </a:rPr>
              <a:t>CF-Tech ERP </a:t>
            </a:r>
            <a:endParaRPr b="1" sz="2400">
              <a:solidFill>
                <a:srgbClr val="1A365D"/>
              </a:solidFill>
              <a:latin typeface="Inter"/>
              <a:ea typeface="Inter"/>
              <a:cs typeface="Inter"/>
              <a:sym typeface="Inter"/>
            </a:endParaRPr>
          </a:p>
          <a:p>
            <a:pPr indent="0" lvl="0" marL="0" rtl="0" algn="ctr">
              <a:lnSpc>
                <a:spcPct val="110000"/>
              </a:lnSpc>
              <a:spcBef>
                <a:spcPts val="2400"/>
              </a:spcBef>
              <a:spcAft>
                <a:spcPts val="600"/>
              </a:spcAft>
              <a:buClr>
                <a:schemeClr val="dk1"/>
              </a:buClr>
              <a:buSzPts val="1100"/>
              <a:buFont typeface="Arial"/>
              <a:buNone/>
            </a:pPr>
            <a:r>
              <a:rPr b="1" lang="fr" sz="2400">
                <a:solidFill>
                  <a:srgbClr val="1A365D"/>
                </a:solidFill>
                <a:latin typeface="Inter"/>
                <a:ea typeface="Inter"/>
                <a:cs typeface="Inter"/>
                <a:sym typeface="Inter"/>
              </a:rPr>
              <a:t>Modernisation de la Base de Données &amp; ORM</a:t>
            </a:r>
            <a:endParaRPr/>
          </a:p>
        </p:txBody>
      </p:sp>
      <p:sp>
        <p:nvSpPr>
          <p:cNvPr id="67" name="Google Shape;67;p13"/>
          <p:cNvSpPr txBox="1"/>
          <p:nvPr>
            <p:ph idx="1" type="subTitle"/>
          </p:nvPr>
        </p:nvSpPr>
        <p:spPr>
          <a:xfrm>
            <a:off x="311700" y="3267975"/>
            <a:ext cx="8520600" cy="792600"/>
          </a:xfrm>
          <a:prstGeom prst="rect">
            <a:avLst/>
          </a:prstGeom>
        </p:spPr>
        <p:txBody>
          <a:bodyPr anchorCtr="0" anchor="t" bIns="91425" lIns="91425" spcFirstLastPara="1" rIns="91425" wrap="square" tIns="91425">
            <a:normAutofit fontScale="92500" lnSpcReduction="20000"/>
          </a:bodyPr>
          <a:lstStyle/>
          <a:p>
            <a:pPr indent="0" lvl="0" marL="0" rtl="0" algn="ctr">
              <a:lnSpc>
                <a:spcPct val="120000"/>
              </a:lnSpc>
              <a:spcBef>
                <a:spcPts val="1800"/>
              </a:spcBef>
              <a:spcAft>
                <a:spcPts val="0"/>
              </a:spcAft>
              <a:buClr>
                <a:schemeClr val="dk1"/>
              </a:buClr>
              <a:buSzPct val="68060"/>
              <a:buFont typeface="Arial"/>
              <a:buNone/>
            </a:pPr>
            <a:r>
              <a:rPr b="1" lang="fr" sz="1616">
                <a:solidFill>
                  <a:srgbClr val="2D3748"/>
                </a:solidFill>
                <a:latin typeface="Inter"/>
                <a:ea typeface="Inter"/>
                <a:cs typeface="Inter"/>
                <a:sym typeface="Inter"/>
              </a:rPr>
              <a:t>Centralisation, validation stricte et évolutivité du système d'information pédagogique</a:t>
            </a:r>
            <a:endParaRPr b="1" sz="1616">
              <a:solidFill>
                <a:srgbClr val="2D3748"/>
              </a:solidFill>
              <a:latin typeface="Inter"/>
              <a:ea typeface="Inter"/>
              <a:cs typeface="Inter"/>
              <a:sym typeface="Inter"/>
            </a:endParaRPr>
          </a:p>
          <a:p>
            <a:pPr indent="-293211" lvl="0" marL="457200" rtl="0" algn="ctr">
              <a:lnSpc>
                <a:spcPct val="130000"/>
              </a:lnSpc>
              <a:spcBef>
                <a:spcPts val="400"/>
              </a:spcBef>
              <a:spcAft>
                <a:spcPts val="0"/>
              </a:spcAft>
              <a:buClr>
                <a:schemeClr val="dk1"/>
              </a:buClr>
              <a:buSzPct val="100000"/>
              <a:buChar char="●"/>
            </a:pPr>
            <a:r>
              <a:rPr b="1" lang="fr" sz="1100">
                <a:solidFill>
                  <a:srgbClr val="2D3748"/>
                </a:solidFill>
                <a:latin typeface="Inter"/>
                <a:ea typeface="Inter"/>
                <a:cs typeface="Inter"/>
                <a:sym typeface="Inter"/>
              </a:rPr>
              <a:t>Projet :</a:t>
            </a:r>
            <a:r>
              <a:rPr lang="fr" sz="1100">
                <a:solidFill>
                  <a:srgbClr val="2D3748"/>
                </a:solidFill>
                <a:latin typeface="Inter"/>
                <a:ea typeface="Inter"/>
                <a:cs typeface="Inter"/>
                <a:sym typeface="Inter"/>
              </a:rPr>
              <a:t> Centre de Formation CF-Tech</a:t>
            </a:r>
            <a:endParaRPr sz="1100">
              <a:solidFill>
                <a:srgbClr val="2D3748"/>
              </a:solidFill>
              <a:latin typeface="Inter"/>
              <a:ea typeface="Inter"/>
              <a:cs typeface="Inter"/>
              <a:sym typeface="Inter"/>
            </a:endParaRPr>
          </a:p>
          <a:p>
            <a:pPr indent="-293211" lvl="0" marL="457200" rtl="0" algn="ctr">
              <a:lnSpc>
                <a:spcPct val="130000"/>
              </a:lnSpc>
              <a:spcBef>
                <a:spcPts val="0"/>
              </a:spcBef>
              <a:spcAft>
                <a:spcPts val="0"/>
              </a:spcAft>
              <a:buClr>
                <a:schemeClr val="dk1"/>
              </a:buClr>
              <a:buSzPct val="100000"/>
              <a:buChar char="●"/>
            </a:pPr>
            <a:r>
              <a:rPr b="1" lang="fr" sz="1100">
                <a:solidFill>
                  <a:srgbClr val="2D3748"/>
                </a:solidFill>
                <a:latin typeface="Inter"/>
                <a:ea typeface="Inter"/>
                <a:cs typeface="Inter"/>
                <a:sym typeface="Inter"/>
              </a:rPr>
              <a:t>Intervenants :</a:t>
            </a:r>
            <a:r>
              <a:rPr lang="fr" sz="1100">
                <a:solidFill>
                  <a:srgbClr val="2D3748"/>
                </a:solidFill>
                <a:latin typeface="Inter"/>
                <a:ea typeface="Inter"/>
                <a:cs typeface="Inter"/>
                <a:sym typeface="Inter"/>
              </a:rPr>
              <a:t> Oussama, Xavier &amp; Romain (Trinôme Data Engineering)</a:t>
            </a:r>
            <a:endParaRPr/>
          </a:p>
        </p:txBody>
      </p:sp>
      <p:pic>
        <p:nvPicPr>
          <p:cNvPr descr="a hallway with rows of servers and a light at the end of it (fourni par Tenor)" id="68" name="Google Shape;68;p13"/>
          <p:cNvPicPr preferRelativeResize="0"/>
          <p:nvPr/>
        </p:nvPicPr>
        <p:blipFill>
          <a:blip r:embed="rId3">
            <a:alphaModFix/>
          </a:blip>
          <a:stretch>
            <a:fillRect/>
          </a:stretch>
        </p:blipFill>
        <p:spPr>
          <a:xfrm>
            <a:off x="49275" y="95250"/>
            <a:ext cx="9055300" cy="870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72" name="Shape 72"/>
        <p:cNvGrpSpPr/>
        <p:nvPr/>
      </p:nvGrpSpPr>
      <p:grpSpPr>
        <a:xfrm>
          <a:off x="0" y="0"/>
          <a:ext cx="0" cy="0"/>
          <a:chOff x="0" y="0"/>
          <a:chExt cx="0" cy="0"/>
        </a:xfrm>
      </p:grpSpPr>
      <p:sp>
        <p:nvSpPr>
          <p:cNvPr id="73" name="Google Shape;73;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sz="3711" u="sng">
                <a:solidFill>
                  <a:srgbClr val="000000"/>
                </a:solidFill>
              </a:rPr>
              <a:t>Sommaire</a:t>
            </a:r>
            <a:r>
              <a:rPr lang="fr" u="sng"/>
              <a:t> </a:t>
            </a:r>
            <a:endParaRPr u="sng"/>
          </a:p>
        </p:txBody>
      </p:sp>
      <p:sp>
        <p:nvSpPr>
          <p:cNvPr id="74" name="Google Shape;74;p1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fr"/>
              <a:t>Contexte et enjeux métiers</a:t>
            </a:r>
            <a:endParaRPr/>
          </a:p>
          <a:p>
            <a:pPr indent="-342900" lvl="0" marL="457200" rtl="0" algn="l">
              <a:spcBef>
                <a:spcPts val="0"/>
              </a:spcBef>
              <a:spcAft>
                <a:spcPts val="0"/>
              </a:spcAft>
              <a:buSzPts val="1800"/>
              <a:buAutoNum type="arabicPeriod"/>
            </a:pPr>
            <a:r>
              <a:rPr lang="fr"/>
              <a:t>Architecture technique</a:t>
            </a:r>
            <a:endParaRPr/>
          </a:p>
          <a:p>
            <a:pPr indent="-342900" lvl="0" marL="457200" rtl="0" algn="l">
              <a:spcBef>
                <a:spcPts val="0"/>
              </a:spcBef>
              <a:spcAft>
                <a:spcPts val="0"/>
              </a:spcAft>
              <a:buSzPts val="1800"/>
              <a:buAutoNum type="arabicPeriod"/>
            </a:pPr>
            <a:r>
              <a:rPr lang="fr"/>
              <a:t>Modélisation des utilisateurs</a:t>
            </a:r>
            <a:endParaRPr/>
          </a:p>
          <a:p>
            <a:pPr indent="-342900" lvl="0" marL="457200" rtl="0" algn="l">
              <a:spcBef>
                <a:spcPts val="0"/>
              </a:spcBef>
              <a:spcAft>
                <a:spcPts val="0"/>
              </a:spcAft>
              <a:buSzPts val="1800"/>
              <a:buAutoNum type="arabicPeriod"/>
            </a:pPr>
            <a:r>
              <a:rPr lang="fr"/>
              <a:t>Salles, sessions et inscriptions</a:t>
            </a:r>
            <a:endParaRPr/>
          </a:p>
          <a:p>
            <a:pPr indent="-342900" lvl="0" marL="457200" rtl="0" algn="l">
              <a:spcBef>
                <a:spcPts val="0"/>
              </a:spcBef>
              <a:spcAft>
                <a:spcPts val="0"/>
              </a:spcAft>
              <a:buSzPts val="1800"/>
              <a:buAutoNum type="arabicPeriod"/>
            </a:pPr>
            <a:r>
              <a:rPr lang="fr"/>
              <a:t>Règles métiers et sécurité</a:t>
            </a:r>
            <a:endParaRPr/>
          </a:p>
          <a:p>
            <a:pPr indent="-342900" lvl="0" marL="457200" rtl="0" algn="l">
              <a:spcBef>
                <a:spcPts val="0"/>
              </a:spcBef>
              <a:spcAft>
                <a:spcPts val="0"/>
              </a:spcAft>
              <a:buSzPts val="1800"/>
              <a:buAutoNum type="arabicPeriod"/>
            </a:pPr>
            <a:r>
              <a:rPr lang="fr"/>
              <a:t>Evolution du schéma</a:t>
            </a:r>
            <a:endParaRPr/>
          </a:p>
          <a:p>
            <a:pPr indent="-342900" lvl="0" marL="457200" rtl="0" algn="l">
              <a:spcBef>
                <a:spcPts val="0"/>
              </a:spcBef>
              <a:spcAft>
                <a:spcPts val="0"/>
              </a:spcAft>
              <a:buSzPts val="1800"/>
              <a:buAutoNum type="arabicPeriod"/>
            </a:pPr>
            <a:r>
              <a:rPr lang="fr"/>
              <a:t>Application web et dashboard</a:t>
            </a:r>
            <a:endParaRPr/>
          </a:p>
          <a:p>
            <a:pPr indent="-342900" lvl="0" marL="457200" rtl="0" algn="l">
              <a:spcBef>
                <a:spcPts val="0"/>
              </a:spcBef>
              <a:spcAft>
                <a:spcPts val="0"/>
              </a:spcAft>
              <a:buSzPts val="1800"/>
              <a:buAutoNum type="arabicPeriod"/>
            </a:pPr>
            <a:r>
              <a:rPr lang="fr"/>
              <a:t>Conclusion</a:t>
            </a:r>
            <a:endParaRPr/>
          </a:p>
        </p:txBody>
      </p:sp>
      <p:pic>
        <p:nvPicPr>
          <p:cNvPr descr="Book vector, Back to school flat design icon (fourni par Getty Images)" id="75" name="Google Shape;75;p14"/>
          <p:cNvPicPr preferRelativeResize="0"/>
          <p:nvPr/>
        </p:nvPicPr>
        <p:blipFill>
          <a:blip r:embed="rId3">
            <a:alphaModFix/>
          </a:blip>
          <a:stretch>
            <a:fillRect/>
          </a:stretch>
        </p:blipFill>
        <p:spPr>
          <a:xfrm>
            <a:off x="7109576" y="316925"/>
            <a:ext cx="1722726" cy="17227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79" name="Shape 79"/>
        <p:cNvGrpSpPr/>
        <p:nvPr/>
      </p:nvGrpSpPr>
      <p:grpSpPr>
        <a:xfrm>
          <a:off x="0" y="0"/>
          <a:ext cx="0" cy="0"/>
          <a:chOff x="0" y="0"/>
          <a:chExt cx="0" cy="0"/>
        </a:xfrm>
      </p:grpSpPr>
      <p:sp>
        <p:nvSpPr>
          <p:cNvPr id="80" name="Google Shape;80;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lnSpc>
                <a:spcPct val="110000"/>
              </a:lnSpc>
              <a:spcBef>
                <a:spcPts val="2400"/>
              </a:spcBef>
              <a:spcAft>
                <a:spcPts val="0"/>
              </a:spcAft>
              <a:buClr>
                <a:schemeClr val="dk1"/>
              </a:buClr>
              <a:buSzPct val="45833"/>
              <a:buFont typeface="Arial"/>
              <a:buNone/>
            </a:pPr>
            <a:r>
              <a:rPr lang="fr" sz="2400">
                <a:solidFill>
                  <a:srgbClr val="1A365D"/>
                </a:solidFill>
                <a:latin typeface="Inter"/>
                <a:ea typeface="Inter"/>
                <a:cs typeface="Inter"/>
                <a:sym typeface="Inter"/>
              </a:rPr>
              <a:t>1</a:t>
            </a:r>
            <a:r>
              <a:rPr lang="fr" sz="2400" u="sng">
                <a:solidFill>
                  <a:srgbClr val="1A365D"/>
                </a:solidFill>
                <a:latin typeface="Inter"/>
                <a:ea typeface="Inter"/>
                <a:cs typeface="Inter"/>
                <a:sym typeface="Inter"/>
              </a:rPr>
              <a:t>. Contexte &amp; Enjeux Métier</a:t>
            </a:r>
            <a:endParaRPr sz="2400" u="sng">
              <a:solidFill>
                <a:srgbClr val="1A365D"/>
              </a:solidFill>
              <a:latin typeface="Inter"/>
              <a:ea typeface="Inter"/>
              <a:cs typeface="Inter"/>
              <a:sym typeface="Inter"/>
            </a:endParaRPr>
          </a:p>
          <a:p>
            <a:pPr indent="0" lvl="0" marL="0" rtl="0" algn="l">
              <a:spcBef>
                <a:spcPts val="600"/>
              </a:spcBef>
              <a:spcAft>
                <a:spcPts val="0"/>
              </a:spcAft>
              <a:buNone/>
            </a:pPr>
            <a:r>
              <a:t/>
            </a:r>
            <a:endParaRPr/>
          </a:p>
        </p:txBody>
      </p:sp>
      <p:sp>
        <p:nvSpPr>
          <p:cNvPr id="81" name="Google Shape;81;p1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lnSpc>
                <a:spcPct val="120000"/>
              </a:lnSpc>
              <a:spcBef>
                <a:spcPts val="2400"/>
              </a:spcBef>
              <a:spcAft>
                <a:spcPts val="0"/>
              </a:spcAft>
              <a:buClr>
                <a:schemeClr val="dk1"/>
              </a:buClr>
              <a:buSzPts val="1100"/>
              <a:buFont typeface="Arial"/>
              <a:buNone/>
            </a:pPr>
            <a:r>
              <a:rPr b="1" i="1" lang="fr" sz="1600">
                <a:solidFill>
                  <a:srgbClr val="2B6CB0"/>
                </a:solidFill>
                <a:latin typeface="Inter"/>
                <a:ea typeface="Inter"/>
                <a:cs typeface="Inter"/>
                <a:sym typeface="Inter"/>
              </a:rPr>
              <a:t>Constat Initial</a:t>
            </a:r>
            <a:endParaRPr b="1" i="1" sz="1600">
              <a:solidFill>
                <a:srgbClr val="2B6CB0"/>
              </a:solidFill>
              <a:latin typeface="Inter"/>
              <a:ea typeface="Inter"/>
              <a:cs typeface="Inter"/>
              <a:sym typeface="Inter"/>
            </a:endParaRPr>
          </a:p>
          <a:p>
            <a:pPr indent="-298450" lvl="0" marL="457200" rtl="0" algn="l">
              <a:lnSpc>
                <a:spcPct val="130000"/>
              </a:lnSpc>
              <a:spcBef>
                <a:spcPts val="600"/>
              </a:spcBef>
              <a:spcAft>
                <a:spcPts val="0"/>
              </a:spcAft>
              <a:buClr>
                <a:schemeClr val="dk1"/>
              </a:buClr>
              <a:buSzPts val="1100"/>
              <a:buChar char="●"/>
            </a:pPr>
            <a:r>
              <a:rPr b="1" lang="fr" sz="1100">
                <a:solidFill>
                  <a:srgbClr val="2D3748"/>
                </a:solidFill>
                <a:latin typeface="Inter"/>
                <a:ea typeface="Inter"/>
                <a:cs typeface="Inter"/>
                <a:sym typeface="Inter"/>
              </a:rPr>
              <a:t>Gestion manuelle :</a:t>
            </a:r>
            <a:r>
              <a:rPr lang="fr" sz="1100">
                <a:solidFill>
                  <a:srgbClr val="2D3748"/>
                </a:solidFill>
                <a:latin typeface="Inter"/>
                <a:ea typeface="Inter"/>
                <a:cs typeface="Inter"/>
                <a:sym typeface="Inter"/>
              </a:rPr>
              <a:t> Fichiers Excel dispersés et ERP vieillissant non adapté.</a:t>
            </a:r>
            <a:endParaRPr sz="1100">
              <a:solidFill>
                <a:srgbClr val="2D3748"/>
              </a:solidFill>
              <a:latin typeface="Inter"/>
              <a:ea typeface="Inter"/>
              <a:cs typeface="Inter"/>
              <a:sym typeface="Inter"/>
            </a:endParaRPr>
          </a:p>
          <a:p>
            <a:pPr indent="-298450" lvl="0" marL="457200" rtl="0" algn="l">
              <a:lnSpc>
                <a:spcPct val="130000"/>
              </a:lnSpc>
              <a:spcBef>
                <a:spcPts val="0"/>
              </a:spcBef>
              <a:spcAft>
                <a:spcPts val="0"/>
              </a:spcAft>
              <a:buClr>
                <a:schemeClr val="dk1"/>
              </a:buClr>
              <a:buSzPts val="1100"/>
              <a:buChar char="●"/>
            </a:pPr>
            <a:r>
              <a:rPr b="1" lang="fr" sz="1100">
                <a:solidFill>
                  <a:srgbClr val="2D3748"/>
                </a:solidFill>
                <a:latin typeface="Inter"/>
                <a:ea typeface="Inter"/>
                <a:cs typeface="Inter"/>
                <a:sym typeface="Inter"/>
              </a:rPr>
              <a:t>Qualité des données :</a:t>
            </a:r>
            <a:r>
              <a:rPr lang="fr" sz="1100">
                <a:solidFill>
                  <a:srgbClr val="2D3748"/>
                </a:solidFill>
                <a:latin typeface="Inter"/>
                <a:ea typeface="Inter"/>
                <a:cs typeface="Inter"/>
                <a:sym typeface="Inter"/>
              </a:rPr>
              <a:t> Risques élevés d'erreurs de saisie, doublons d'utilisateurs et comptes invalides.</a:t>
            </a:r>
            <a:endParaRPr sz="1100">
              <a:solidFill>
                <a:srgbClr val="2D3748"/>
              </a:solidFill>
              <a:latin typeface="Inter"/>
              <a:ea typeface="Inter"/>
              <a:cs typeface="Inter"/>
              <a:sym typeface="Inter"/>
            </a:endParaRPr>
          </a:p>
          <a:p>
            <a:pPr indent="-298450" lvl="0" marL="457200" rtl="0" algn="l">
              <a:lnSpc>
                <a:spcPct val="130000"/>
              </a:lnSpc>
              <a:spcBef>
                <a:spcPts val="0"/>
              </a:spcBef>
              <a:spcAft>
                <a:spcPts val="0"/>
              </a:spcAft>
              <a:buClr>
                <a:schemeClr val="dk1"/>
              </a:buClr>
              <a:buSzPts val="1100"/>
              <a:buChar char="●"/>
            </a:pPr>
            <a:r>
              <a:rPr b="1" lang="fr" sz="1100">
                <a:solidFill>
                  <a:srgbClr val="2D3748"/>
                </a:solidFill>
                <a:latin typeface="Inter"/>
                <a:ea typeface="Inter"/>
                <a:cs typeface="Inter"/>
                <a:sym typeface="Inter"/>
              </a:rPr>
              <a:t>Gestion du planning :</a:t>
            </a:r>
            <a:r>
              <a:rPr lang="fr" sz="1100">
                <a:solidFill>
                  <a:srgbClr val="2D3748"/>
                </a:solidFill>
                <a:latin typeface="Inter"/>
                <a:ea typeface="Inter"/>
                <a:cs typeface="Inter"/>
                <a:sym typeface="Inter"/>
              </a:rPr>
              <a:t> Conflits réguliers d'emploi du temps (chevauchement de salles et de formateurs).</a:t>
            </a:r>
            <a:endParaRPr sz="1100">
              <a:solidFill>
                <a:srgbClr val="2D3748"/>
              </a:solidFill>
              <a:latin typeface="Inter"/>
              <a:ea typeface="Inter"/>
              <a:cs typeface="Inter"/>
              <a:sym typeface="Inter"/>
            </a:endParaRPr>
          </a:p>
          <a:p>
            <a:pPr indent="0" lvl="0" marL="0" rtl="0" algn="l">
              <a:lnSpc>
                <a:spcPct val="120000"/>
              </a:lnSpc>
              <a:spcBef>
                <a:spcPts val="2400"/>
              </a:spcBef>
              <a:spcAft>
                <a:spcPts val="0"/>
              </a:spcAft>
              <a:buClr>
                <a:schemeClr val="dk1"/>
              </a:buClr>
              <a:buSzPts val="1100"/>
              <a:buFont typeface="Arial"/>
              <a:buNone/>
            </a:pPr>
            <a:r>
              <a:rPr b="1" i="1" lang="fr" sz="1600">
                <a:solidFill>
                  <a:srgbClr val="2B6CB0"/>
                </a:solidFill>
                <a:latin typeface="Inter"/>
                <a:ea typeface="Inter"/>
                <a:cs typeface="Inter"/>
                <a:sym typeface="Inter"/>
              </a:rPr>
              <a:t>Objectifs Cibles</a:t>
            </a:r>
            <a:endParaRPr b="1" i="1" sz="1600">
              <a:solidFill>
                <a:srgbClr val="2B6CB0"/>
              </a:solidFill>
              <a:latin typeface="Inter"/>
              <a:ea typeface="Inter"/>
              <a:cs typeface="Inter"/>
              <a:sym typeface="Inter"/>
            </a:endParaRPr>
          </a:p>
          <a:p>
            <a:pPr indent="-298450" lvl="0" marL="457200" rtl="0" algn="l">
              <a:lnSpc>
                <a:spcPct val="130000"/>
              </a:lnSpc>
              <a:spcBef>
                <a:spcPts val="600"/>
              </a:spcBef>
              <a:spcAft>
                <a:spcPts val="0"/>
              </a:spcAft>
              <a:buClr>
                <a:schemeClr val="dk1"/>
              </a:buClr>
              <a:buSzPts val="1100"/>
              <a:buChar char="●"/>
            </a:pPr>
            <a:r>
              <a:rPr b="1" lang="fr" sz="1100">
                <a:solidFill>
                  <a:srgbClr val="2D3748"/>
                </a:solidFill>
                <a:latin typeface="Inter"/>
                <a:ea typeface="Inter"/>
                <a:cs typeface="Inter"/>
                <a:sym typeface="Inter"/>
              </a:rPr>
              <a:t>Architecture robuste :</a:t>
            </a:r>
            <a:r>
              <a:rPr lang="fr" sz="1100">
                <a:solidFill>
                  <a:srgbClr val="2D3748"/>
                </a:solidFill>
                <a:latin typeface="Inter"/>
                <a:ea typeface="Inter"/>
                <a:cs typeface="Inter"/>
                <a:sym typeface="Inter"/>
              </a:rPr>
              <a:t> Concevoir un socle relationnel centralisé avec SQLModel.</a:t>
            </a:r>
            <a:endParaRPr sz="1100">
              <a:solidFill>
                <a:srgbClr val="2D3748"/>
              </a:solidFill>
              <a:latin typeface="Inter"/>
              <a:ea typeface="Inter"/>
              <a:cs typeface="Inter"/>
              <a:sym typeface="Inter"/>
            </a:endParaRPr>
          </a:p>
          <a:p>
            <a:pPr indent="-298450" lvl="0" marL="457200" rtl="0" algn="l">
              <a:lnSpc>
                <a:spcPct val="130000"/>
              </a:lnSpc>
              <a:spcBef>
                <a:spcPts val="0"/>
              </a:spcBef>
              <a:spcAft>
                <a:spcPts val="0"/>
              </a:spcAft>
              <a:buClr>
                <a:schemeClr val="dk1"/>
              </a:buClr>
              <a:buSzPts val="1100"/>
              <a:buChar char="●"/>
            </a:pPr>
            <a:r>
              <a:rPr b="1" lang="fr" sz="1100">
                <a:solidFill>
                  <a:srgbClr val="2D3748"/>
                </a:solidFill>
                <a:latin typeface="Inter"/>
                <a:ea typeface="Inter"/>
                <a:cs typeface="Inter"/>
                <a:sym typeface="Inter"/>
              </a:rPr>
              <a:t>Validation dynamique :</a:t>
            </a:r>
            <a:r>
              <a:rPr lang="fr" sz="1100">
                <a:solidFill>
                  <a:srgbClr val="2D3748"/>
                </a:solidFill>
                <a:latin typeface="Inter"/>
                <a:ea typeface="Inter"/>
                <a:cs typeface="Inter"/>
                <a:sym typeface="Inter"/>
              </a:rPr>
              <a:t> Automatiser la validation stricte des données à l'entrée via Pydantic.</a:t>
            </a:r>
            <a:endParaRPr sz="1100">
              <a:solidFill>
                <a:srgbClr val="2D3748"/>
              </a:solidFill>
              <a:latin typeface="Inter"/>
              <a:ea typeface="Inter"/>
              <a:cs typeface="Inter"/>
              <a:sym typeface="Inter"/>
            </a:endParaRPr>
          </a:p>
          <a:p>
            <a:pPr indent="-298450" lvl="0" marL="457200" rtl="0" algn="l">
              <a:lnSpc>
                <a:spcPct val="130000"/>
              </a:lnSpc>
              <a:spcBef>
                <a:spcPts val="0"/>
              </a:spcBef>
              <a:spcAft>
                <a:spcPts val="0"/>
              </a:spcAft>
              <a:buClr>
                <a:schemeClr val="dk1"/>
              </a:buClr>
              <a:buSzPts val="1100"/>
              <a:buChar char="●"/>
            </a:pPr>
            <a:r>
              <a:rPr b="1" lang="fr" sz="1100">
                <a:solidFill>
                  <a:srgbClr val="2D3748"/>
                </a:solidFill>
                <a:latin typeface="Inter"/>
                <a:ea typeface="Inter"/>
                <a:cs typeface="Inter"/>
                <a:sym typeface="Inter"/>
              </a:rPr>
              <a:t>Maintenabilité :</a:t>
            </a:r>
            <a:r>
              <a:rPr lang="fr" sz="1100">
                <a:solidFill>
                  <a:srgbClr val="2D3748"/>
                </a:solidFill>
                <a:latin typeface="Inter"/>
                <a:ea typeface="Inter"/>
                <a:cs typeface="Inter"/>
                <a:sym typeface="Inter"/>
              </a:rPr>
              <a:t> Assurer l'évolution du schéma sans perte de données grâce à Alembic.</a:t>
            </a:r>
            <a:endParaRPr/>
          </a:p>
        </p:txBody>
      </p:sp>
      <p:pic>
        <p:nvPicPr>
          <p:cNvPr descr="Hardware developer Collect data (fourni par Getty Images)" id="82" name="Google Shape;82;p15"/>
          <p:cNvPicPr preferRelativeResize="0"/>
          <p:nvPr/>
        </p:nvPicPr>
        <p:blipFill>
          <a:blip r:embed="rId3">
            <a:alphaModFix/>
          </a:blip>
          <a:stretch>
            <a:fillRect/>
          </a:stretch>
        </p:blipFill>
        <p:spPr>
          <a:xfrm>
            <a:off x="6192175" y="228250"/>
            <a:ext cx="2640123" cy="13581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86" name="Shape 86"/>
        <p:cNvGrpSpPr/>
        <p:nvPr/>
      </p:nvGrpSpPr>
      <p:grpSpPr>
        <a:xfrm>
          <a:off x="0" y="0"/>
          <a:ext cx="0" cy="0"/>
          <a:chOff x="0" y="0"/>
          <a:chExt cx="0" cy="0"/>
        </a:xfrm>
      </p:grpSpPr>
      <p:pic>
        <p:nvPicPr>
          <p:cNvPr id="87" name="Google Shape;87;p16"/>
          <p:cNvPicPr preferRelativeResize="0"/>
          <p:nvPr/>
        </p:nvPicPr>
        <p:blipFill>
          <a:blip r:embed="rId3">
            <a:alphaModFix/>
          </a:blip>
          <a:stretch>
            <a:fillRect/>
          </a:stretch>
        </p:blipFill>
        <p:spPr>
          <a:xfrm>
            <a:off x="101050" y="73375"/>
            <a:ext cx="2877925" cy="4916925"/>
          </a:xfrm>
          <a:prstGeom prst="rect">
            <a:avLst/>
          </a:prstGeom>
          <a:noFill/>
          <a:ln>
            <a:noFill/>
          </a:ln>
        </p:spPr>
      </p:pic>
      <p:sp>
        <p:nvSpPr>
          <p:cNvPr id="88" name="Google Shape;88;p16"/>
          <p:cNvSpPr txBox="1"/>
          <p:nvPr/>
        </p:nvSpPr>
        <p:spPr>
          <a:xfrm>
            <a:off x="3052350" y="73375"/>
            <a:ext cx="2443200" cy="6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chemeClr val="dk2"/>
                </a:solidFill>
                <a:latin typeface="Open Sans"/>
                <a:ea typeface="Open Sans"/>
                <a:cs typeface="Open Sans"/>
                <a:sym typeface="Open Sans"/>
              </a:rPr>
              <a:t>Schéma d’utilisation</a:t>
            </a:r>
            <a:endParaRPr sz="1800">
              <a:solidFill>
                <a:schemeClr val="dk2"/>
              </a:solidFill>
              <a:latin typeface="Open Sans"/>
              <a:ea typeface="Open Sans"/>
              <a:cs typeface="Open Sans"/>
              <a:sym typeface="Open Sans"/>
            </a:endParaRPr>
          </a:p>
        </p:txBody>
      </p:sp>
      <p:pic>
        <p:nvPicPr>
          <p:cNvPr id="89" name="Google Shape;89;p16"/>
          <p:cNvPicPr preferRelativeResize="0"/>
          <p:nvPr/>
        </p:nvPicPr>
        <p:blipFill>
          <a:blip r:embed="rId4">
            <a:alphaModFix/>
          </a:blip>
          <a:stretch>
            <a:fillRect/>
          </a:stretch>
        </p:blipFill>
        <p:spPr>
          <a:xfrm>
            <a:off x="4358400" y="529075"/>
            <a:ext cx="4710600" cy="4490575"/>
          </a:xfrm>
          <a:prstGeom prst="rect">
            <a:avLst/>
          </a:prstGeom>
          <a:noFill/>
          <a:ln>
            <a:noFill/>
          </a:ln>
        </p:spPr>
      </p:pic>
      <p:sp>
        <p:nvSpPr>
          <p:cNvPr id="90" name="Google Shape;90;p16"/>
          <p:cNvSpPr txBox="1"/>
          <p:nvPr/>
        </p:nvSpPr>
        <p:spPr>
          <a:xfrm>
            <a:off x="3602550" y="2571750"/>
            <a:ext cx="1342800" cy="6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chemeClr val="dk2"/>
                </a:solidFill>
                <a:latin typeface="Open Sans"/>
                <a:ea typeface="Open Sans"/>
                <a:cs typeface="Open Sans"/>
                <a:sym typeface="Open Sans"/>
              </a:rPr>
              <a:t>MCD</a:t>
            </a:r>
            <a:endParaRPr sz="1800">
              <a:solidFill>
                <a:schemeClr val="dk2"/>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94" name="Shape 94"/>
        <p:cNvGrpSpPr/>
        <p:nvPr/>
      </p:nvGrpSpPr>
      <p:grpSpPr>
        <a:xfrm>
          <a:off x="0" y="0"/>
          <a:ext cx="0" cy="0"/>
          <a:chOff x="0" y="0"/>
          <a:chExt cx="0" cy="0"/>
        </a:xfrm>
      </p:grpSpPr>
      <p:sp>
        <p:nvSpPr>
          <p:cNvPr id="95" name="Google Shape;95;p17"/>
          <p:cNvSpPr txBox="1"/>
          <p:nvPr/>
        </p:nvSpPr>
        <p:spPr>
          <a:xfrm>
            <a:off x="865800" y="856775"/>
            <a:ext cx="785100" cy="6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chemeClr val="dk2"/>
                </a:solidFill>
                <a:latin typeface="Open Sans"/>
                <a:ea typeface="Open Sans"/>
                <a:cs typeface="Open Sans"/>
                <a:sym typeface="Open Sans"/>
              </a:rPr>
              <a:t>MLD</a:t>
            </a:r>
            <a:endParaRPr sz="1800">
              <a:solidFill>
                <a:schemeClr val="dk2"/>
              </a:solidFill>
              <a:latin typeface="Open Sans"/>
              <a:ea typeface="Open Sans"/>
              <a:cs typeface="Open Sans"/>
              <a:sym typeface="Open Sans"/>
            </a:endParaRPr>
          </a:p>
        </p:txBody>
      </p:sp>
      <p:pic>
        <p:nvPicPr>
          <p:cNvPr id="96" name="Google Shape;96;p17"/>
          <p:cNvPicPr preferRelativeResize="0"/>
          <p:nvPr/>
        </p:nvPicPr>
        <p:blipFill>
          <a:blip r:embed="rId3">
            <a:alphaModFix/>
          </a:blip>
          <a:stretch>
            <a:fillRect/>
          </a:stretch>
        </p:blipFill>
        <p:spPr>
          <a:xfrm>
            <a:off x="1847350" y="0"/>
            <a:ext cx="3934500" cy="50628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00" name="Shape 100"/>
        <p:cNvGrpSpPr/>
        <p:nvPr/>
      </p:nvGrpSpPr>
      <p:grpSpPr>
        <a:xfrm>
          <a:off x="0" y="0"/>
          <a:ext cx="0" cy="0"/>
          <a:chOff x="0" y="0"/>
          <a:chExt cx="0" cy="0"/>
        </a:xfrm>
      </p:grpSpPr>
      <p:sp>
        <p:nvSpPr>
          <p:cNvPr id="101" name="Google Shape;101;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lnSpc>
                <a:spcPct val="110000"/>
              </a:lnSpc>
              <a:spcBef>
                <a:spcPts val="2400"/>
              </a:spcBef>
              <a:spcAft>
                <a:spcPts val="0"/>
              </a:spcAft>
              <a:buClr>
                <a:schemeClr val="dk1"/>
              </a:buClr>
              <a:buSzPct val="45833"/>
              <a:buFont typeface="Arial"/>
              <a:buNone/>
            </a:pPr>
            <a:r>
              <a:rPr b="1" lang="fr" sz="2400" u="sng">
                <a:solidFill>
                  <a:srgbClr val="1A365D"/>
                </a:solidFill>
                <a:latin typeface="Inter"/>
                <a:ea typeface="Inter"/>
                <a:cs typeface="Inter"/>
                <a:sym typeface="Inter"/>
              </a:rPr>
              <a:t>2. Architecture Technique</a:t>
            </a:r>
            <a:endParaRPr b="1" sz="2400" u="sng">
              <a:solidFill>
                <a:srgbClr val="1A365D"/>
              </a:solidFill>
              <a:latin typeface="Inter"/>
              <a:ea typeface="Inter"/>
              <a:cs typeface="Inter"/>
              <a:sym typeface="Inter"/>
            </a:endParaRPr>
          </a:p>
          <a:p>
            <a:pPr indent="0" lvl="0" marL="0" rtl="0" algn="l">
              <a:spcBef>
                <a:spcPts val="600"/>
              </a:spcBef>
              <a:spcAft>
                <a:spcPts val="0"/>
              </a:spcAft>
              <a:buNone/>
            </a:pPr>
            <a:r>
              <a:t/>
            </a:r>
            <a:endParaRPr/>
          </a:p>
        </p:txBody>
      </p:sp>
      <p:graphicFrame>
        <p:nvGraphicFramePr>
          <p:cNvPr id="102" name="Google Shape;102;p18"/>
          <p:cNvGraphicFramePr/>
          <p:nvPr/>
        </p:nvGraphicFramePr>
        <p:xfrm>
          <a:off x="465150" y="1017725"/>
          <a:ext cx="3000000" cy="3000000"/>
        </p:xfrm>
        <a:graphic>
          <a:graphicData uri="http://schemas.openxmlformats.org/drawingml/2006/table">
            <a:tbl>
              <a:tblPr firstRow="1">
                <a:noFill/>
                <a:tableStyleId>{39B592DF-6ECE-4167-B669-AC5812F129CF}</a:tableStyleId>
              </a:tblPr>
              <a:tblGrid>
                <a:gridCol w="1642775"/>
                <a:gridCol w="2234800"/>
                <a:gridCol w="3974025"/>
              </a:tblGrid>
              <a:tr h="401775">
                <a:tc>
                  <a:txBody>
                    <a:bodyPr/>
                    <a:lstStyle/>
                    <a:p>
                      <a:pPr indent="0" lvl="0" marL="0" rtl="0" algn="l">
                        <a:lnSpc>
                          <a:spcPct val="130000"/>
                        </a:lnSpc>
                        <a:spcBef>
                          <a:spcPts val="0"/>
                        </a:spcBef>
                        <a:spcAft>
                          <a:spcPts val="0"/>
                        </a:spcAft>
                        <a:buNone/>
                      </a:pPr>
                      <a:r>
                        <a:rPr lang="fr" sz="1300">
                          <a:solidFill>
                            <a:srgbClr val="1A365D"/>
                          </a:solidFill>
                        </a:rPr>
                        <a:t>Composant</a:t>
                      </a:r>
                      <a:endParaRPr sz="1300">
                        <a:solidFill>
                          <a:srgbClr val="1A365D"/>
                        </a:solidFill>
                      </a:endParaRPr>
                    </a:p>
                  </a:txBody>
                  <a:tcPr marT="101600" marB="101600" marR="127000" marL="127000" anchor="ctr">
                    <a:solidFill>
                      <a:srgbClr val="CCCCCC"/>
                    </a:solidFill>
                  </a:tcPr>
                </a:tc>
                <a:tc>
                  <a:txBody>
                    <a:bodyPr/>
                    <a:lstStyle/>
                    <a:p>
                      <a:pPr indent="0" lvl="0" marL="0" rtl="0" algn="l">
                        <a:lnSpc>
                          <a:spcPct val="130000"/>
                        </a:lnSpc>
                        <a:spcBef>
                          <a:spcPts val="0"/>
                        </a:spcBef>
                        <a:spcAft>
                          <a:spcPts val="0"/>
                        </a:spcAft>
                        <a:buNone/>
                      </a:pPr>
                      <a:r>
                        <a:rPr b="1" lang="fr" sz="1300">
                          <a:solidFill>
                            <a:srgbClr val="1A365D"/>
                          </a:solidFill>
                          <a:latin typeface="Inter"/>
                          <a:ea typeface="Inter"/>
                          <a:cs typeface="Inter"/>
                          <a:sym typeface="Inter"/>
                        </a:rPr>
                        <a:t>Technologie</a:t>
                      </a:r>
                      <a:endParaRPr b="1" sz="1300">
                        <a:solidFill>
                          <a:srgbClr val="1A365D"/>
                        </a:solidFill>
                        <a:latin typeface="Inter"/>
                        <a:ea typeface="Inter"/>
                        <a:cs typeface="Inter"/>
                        <a:sym typeface="Inter"/>
                      </a:endParaRPr>
                    </a:p>
                  </a:txBody>
                  <a:tcPr marT="101600" marB="101600" marR="127000" marL="127000" anchor="ctr">
                    <a:solidFill>
                      <a:srgbClr val="CCCCCC"/>
                    </a:solidFill>
                  </a:tcPr>
                </a:tc>
                <a:tc>
                  <a:txBody>
                    <a:bodyPr/>
                    <a:lstStyle/>
                    <a:p>
                      <a:pPr indent="0" lvl="0" marL="0" rtl="0" algn="l">
                        <a:lnSpc>
                          <a:spcPct val="130000"/>
                        </a:lnSpc>
                        <a:spcBef>
                          <a:spcPts val="0"/>
                        </a:spcBef>
                        <a:spcAft>
                          <a:spcPts val="0"/>
                        </a:spcAft>
                        <a:buNone/>
                      </a:pPr>
                      <a:r>
                        <a:rPr b="1" lang="fr" sz="1300">
                          <a:solidFill>
                            <a:srgbClr val="1A365D"/>
                          </a:solidFill>
                          <a:latin typeface="Inter"/>
                          <a:ea typeface="Inter"/>
                          <a:cs typeface="Inter"/>
                          <a:sym typeface="Inter"/>
                        </a:rPr>
                        <a:t>Rôle dans l'Architecture</a:t>
                      </a:r>
                      <a:endParaRPr b="1" sz="1300">
                        <a:solidFill>
                          <a:srgbClr val="1A365D"/>
                        </a:solidFill>
                        <a:latin typeface="Inter"/>
                        <a:ea typeface="Inter"/>
                        <a:cs typeface="Inter"/>
                        <a:sym typeface="Inter"/>
                      </a:endParaRPr>
                    </a:p>
                  </a:txBody>
                  <a:tcPr marT="101600" marB="101600" marR="127000" marL="127000" anchor="ctr">
                    <a:solidFill>
                      <a:srgbClr val="CCCCCC"/>
                    </a:solidFill>
                  </a:tcPr>
                </a:tc>
              </a:tr>
              <a:tr h="818675">
                <a:tc>
                  <a:txBody>
                    <a:bodyPr/>
                    <a:lstStyle/>
                    <a:p>
                      <a:pPr indent="0" lvl="0" marL="0" rtl="0" algn="l">
                        <a:lnSpc>
                          <a:spcPct val="130000"/>
                        </a:lnSpc>
                        <a:spcBef>
                          <a:spcPts val="0"/>
                        </a:spcBef>
                        <a:spcAft>
                          <a:spcPts val="0"/>
                        </a:spcAft>
                        <a:buNone/>
                      </a:pPr>
                      <a:r>
                        <a:rPr b="1" lang="fr" sz="1100">
                          <a:solidFill>
                            <a:srgbClr val="2D3748"/>
                          </a:solidFill>
                          <a:latin typeface="Inter"/>
                          <a:ea typeface="Inter"/>
                          <a:cs typeface="Inter"/>
                          <a:sym typeface="Inter"/>
                        </a:rPr>
                        <a:t>ORM / Data Layer</a:t>
                      </a:r>
                      <a:endParaRPr sz="1100">
                        <a:solidFill>
                          <a:srgbClr val="2D3748"/>
                        </a:solidFill>
                        <a:latin typeface="Inter"/>
                        <a:ea typeface="Inter"/>
                        <a:cs typeface="Inter"/>
                        <a:sym typeface="Inter"/>
                      </a:endParaRPr>
                    </a:p>
                  </a:txBody>
                  <a:tcPr marT="101600" marB="101600" marR="127000" marL="127000">
                    <a:solidFill>
                      <a:srgbClr val="CCCCCC"/>
                    </a:solidFill>
                  </a:tcPr>
                </a:tc>
                <a:tc>
                  <a:txBody>
                    <a:bodyPr/>
                    <a:lstStyle/>
                    <a:p>
                      <a:pPr indent="0" lvl="0" marL="0" rtl="0" algn="l">
                        <a:lnSpc>
                          <a:spcPct val="130000"/>
                        </a:lnSpc>
                        <a:spcBef>
                          <a:spcPts val="0"/>
                        </a:spcBef>
                        <a:spcAft>
                          <a:spcPts val="0"/>
                        </a:spcAft>
                        <a:buNone/>
                      </a:pPr>
                      <a:r>
                        <a:rPr lang="fr" sz="1100">
                          <a:solidFill>
                            <a:srgbClr val="2D3748"/>
                          </a:solidFill>
                          <a:latin typeface="Inter"/>
                          <a:ea typeface="Inter"/>
                          <a:cs typeface="Inter"/>
                          <a:sym typeface="Inter"/>
                        </a:rPr>
                        <a:t>SQLModel</a:t>
                      </a:r>
                      <a:endParaRPr sz="1100">
                        <a:solidFill>
                          <a:srgbClr val="2D3748"/>
                        </a:solidFill>
                        <a:latin typeface="Inter"/>
                        <a:ea typeface="Inter"/>
                        <a:cs typeface="Inter"/>
                        <a:sym typeface="Inter"/>
                      </a:endParaRPr>
                    </a:p>
                  </a:txBody>
                  <a:tcPr marT="101600" marB="101600" marR="127000" marL="127000">
                    <a:solidFill>
                      <a:srgbClr val="CCCCCC"/>
                    </a:solidFill>
                  </a:tcPr>
                </a:tc>
                <a:tc>
                  <a:txBody>
                    <a:bodyPr/>
                    <a:lstStyle/>
                    <a:p>
                      <a:pPr indent="0" lvl="0" marL="0" rtl="0" algn="l">
                        <a:lnSpc>
                          <a:spcPct val="130000"/>
                        </a:lnSpc>
                        <a:spcBef>
                          <a:spcPts val="0"/>
                        </a:spcBef>
                        <a:spcAft>
                          <a:spcPts val="0"/>
                        </a:spcAft>
                        <a:buNone/>
                      </a:pPr>
                      <a:r>
                        <a:rPr lang="fr" sz="1100">
                          <a:solidFill>
                            <a:srgbClr val="2D3748"/>
                          </a:solidFill>
                          <a:latin typeface="Inter"/>
                          <a:ea typeface="Inter"/>
                          <a:cs typeface="Inter"/>
                          <a:sym typeface="Inter"/>
                        </a:rPr>
                        <a:t>Définition orientée objet des tables SQL et gestion avancée des relations.</a:t>
                      </a:r>
                      <a:endParaRPr sz="1100">
                        <a:solidFill>
                          <a:srgbClr val="2D3748"/>
                        </a:solidFill>
                        <a:latin typeface="Inter"/>
                        <a:ea typeface="Inter"/>
                        <a:cs typeface="Inter"/>
                        <a:sym typeface="Inter"/>
                      </a:endParaRPr>
                    </a:p>
                  </a:txBody>
                  <a:tcPr marT="101600" marB="101600" marR="127000" marL="127000">
                    <a:solidFill>
                      <a:srgbClr val="CCCCCC"/>
                    </a:solidFill>
                  </a:tcPr>
                </a:tc>
              </a:tr>
              <a:tr h="530325">
                <a:tc>
                  <a:txBody>
                    <a:bodyPr/>
                    <a:lstStyle/>
                    <a:p>
                      <a:pPr indent="0" lvl="0" marL="0" rtl="0" algn="l">
                        <a:lnSpc>
                          <a:spcPct val="130000"/>
                        </a:lnSpc>
                        <a:spcBef>
                          <a:spcPts val="0"/>
                        </a:spcBef>
                        <a:spcAft>
                          <a:spcPts val="0"/>
                        </a:spcAft>
                        <a:buNone/>
                      </a:pPr>
                      <a:r>
                        <a:rPr b="1" lang="fr" sz="1100">
                          <a:solidFill>
                            <a:srgbClr val="2D3748"/>
                          </a:solidFill>
                          <a:latin typeface="Inter"/>
                          <a:ea typeface="Inter"/>
                          <a:cs typeface="Inter"/>
                          <a:sym typeface="Inter"/>
                        </a:rPr>
                        <a:t>Validation</a:t>
                      </a:r>
                      <a:endParaRPr sz="1100">
                        <a:solidFill>
                          <a:srgbClr val="2D3748"/>
                        </a:solidFill>
                        <a:latin typeface="Inter"/>
                        <a:ea typeface="Inter"/>
                        <a:cs typeface="Inter"/>
                        <a:sym typeface="Inter"/>
                      </a:endParaRPr>
                    </a:p>
                  </a:txBody>
                  <a:tcPr marT="101600" marB="101600" marR="127000" marL="127000">
                    <a:solidFill>
                      <a:srgbClr val="CCCCCC"/>
                    </a:solidFill>
                  </a:tcPr>
                </a:tc>
                <a:tc>
                  <a:txBody>
                    <a:bodyPr/>
                    <a:lstStyle/>
                    <a:p>
                      <a:pPr indent="0" lvl="0" marL="0" rtl="0" algn="l">
                        <a:lnSpc>
                          <a:spcPct val="130000"/>
                        </a:lnSpc>
                        <a:spcBef>
                          <a:spcPts val="0"/>
                        </a:spcBef>
                        <a:spcAft>
                          <a:spcPts val="0"/>
                        </a:spcAft>
                        <a:buNone/>
                      </a:pPr>
                      <a:r>
                        <a:rPr lang="fr" sz="1100">
                          <a:solidFill>
                            <a:srgbClr val="2D3748"/>
                          </a:solidFill>
                          <a:latin typeface="Inter"/>
                          <a:ea typeface="Inter"/>
                          <a:cs typeface="Inter"/>
                          <a:sym typeface="Inter"/>
                        </a:rPr>
                        <a:t>Pydantic v2</a:t>
                      </a:r>
                      <a:endParaRPr sz="1100">
                        <a:solidFill>
                          <a:srgbClr val="2D3748"/>
                        </a:solidFill>
                        <a:latin typeface="Inter"/>
                        <a:ea typeface="Inter"/>
                        <a:cs typeface="Inter"/>
                        <a:sym typeface="Inter"/>
                      </a:endParaRPr>
                    </a:p>
                  </a:txBody>
                  <a:tcPr marT="101600" marB="101600" marR="127000" marL="127000">
                    <a:solidFill>
                      <a:srgbClr val="CCCCCC"/>
                    </a:solidFill>
                  </a:tcPr>
                </a:tc>
                <a:tc>
                  <a:txBody>
                    <a:bodyPr/>
                    <a:lstStyle/>
                    <a:p>
                      <a:pPr indent="0" lvl="0" marL="0" rtl="0" algn="l">
                        <a:lnSpc>
                          <a:spcPct val="130000"/>
                        </a:lnSpc>
                        <a:spcBef>
                          <a:spcPts val="0"/>
                        </a:spcBef>
                        <a:spcAft>
                          <a:spcPts val="0"/>
                        </a:spcAft>
                        <a:buNone/>
                      </a:pPr>
                      <a:r>
                        <a:rPr lang="fr" sz="1100">
                          <a:solidFill>
                            <a:srgbClr val="2D3748"/>
                          </a:solidFill>
                          <a:latin typeface="Inter"/>
                          <a:ea typeface="Inter"/>
                          <a:cs typeface="Inter"/>
                          <a:sym typeface="Inter"/>
                        </a:rPr>
                        <a:t>Contrôle des contraintes métiers à l'entrée (formats, âges, dates).</a:t>
                      </a:r>
                      <a:endParaRPr sz="1100">
                        <a:solidFill>
                          <a:srgbClr val="2D3748"/>
                        </a:solidFill>
                        <a:latin typeface="Inter"/>
                        <a:ea typeface="Inter"/>
                        <a:cs typeface="Inter"/>
                        <a:sym typeface="Inter"/>
                      </a:endParaRPr>
                    </a:p>
                  </a:txBody>
                  <a:tcPr marT="101600" marB="101600" marR="127000" marL="127000">
                    <a:solidFill>
                      <a:srgbClr val="CCCCCC"/>
                    </a:solidFill>
                  </a:tcPr>
                </a:tc>
              </a:tr>
              <a:tr h="610225">
                <a:tc>
                  <a:txBody>
                    <a:bodyPr/>
                    <a:lstStyle/>
                    <a:p>
                      <a:pPr indent="0" lvl="0" marL="0" rtl="0" algn="l">
                        <a:lnSpc>
                          <a:spcPct val="130000"/>
                        </a:lnSpc>
                        <a:spcBef>
                          <a:spcPts val="0"/>
                        </a:spcBef>
                        <a:spcAft>
                          <a:spcPts val="0"/>
                        </a:spcAft>
                        <a:buNone/>
                      </a:pPr>
                      <a:r>
                        <a:rPr b="1" lang="fr" sz="1100">
                          <a:solidFill>
                            <a:srgbClr val="2D3748"/>
                          </a:solidFill>
                          <a:latin typeface="Inter"/>
                          <a:ea typeface="Inter"/>
                          <a:cs typeface="Inter"/>
                          <a:sym typeface="Inter"/>
                        </a:rPr>
                        <a:t>Migrations</a:t>
                      </a:r>
                      <a:endParaRPr sz="1100">
                        <a:solidFill>
                          <a:srgbClr val="2D3748"/>
                        </a:solidFill>
                        <a:latin typeface="Inter"/>
                        <a:ea typeface="Inter"/>
                        <a:cs typeface="Inter"/>
                        <a:sym typeface="Inter"/>
                      </a:endParaRPr>
                    </a:p>
                  </a:txBody>
                  <a:tcPr marT="101600" marB="101600" marR="127000" marL="127000">
                    <a:solidFill>
                      <a:srgbClr val="CCCCCC"/>
                    </a:solidFill>
                  </a:tcPr>
                </a:tc>
                <a:tc>
                  <a:txBody>
                    <a:bodyPr/>
                    <a:lstStyle/>
                    <a:p>
                      <a:pPr indent="0" lvl="0" marL="0" rtl="0" algn="l">
                        <a:lnSpc>
                          <a:spcPct val="130000"/>
                        </a:lnSpc>
                        <a:spcBef>
                          <a:spcPts val="0"/>
                        </a:spcBef>
                        <a:spcAft>
                          <a:spcPts val="0"/>
                        </a:spcAft>
                        <a:buNone/>
                      </a:pPr>
                      <a:r>
                        <a:rPr lang="fr" sz="1100">
                          <a:solidFill>
                            <a:srgbClr val="2D3748"/>
                          </a:solidFill>
                          <a:latin typeface="Inter"/>
                          <a:ea typeface="Inter"/>
                          <a:cs typeface="Inter"/>
                          <a:sym typeface="Inter"/>
                        </a:rPr>
                        <a:t>Alembic</a:t>
                      </a:r>
                      <a:endParaRPr sz="1100">
                        <a:solidFill>
                          <a:srgbClr val="2D3748"/>
                        </a:solidFill>
                        <a:latin typeface="Inter"/>
                        <a:ea typeface="Inter"/>
                        <a:cs typeface="Inter"/>
                        <a:sym typeface="Inter"/>
                      </a:endParaRPr>
                    </a:p>
                  </a:txBody>
                  <a:tcPr marT="101600" marB="101600" marR="127000" marL="127000">
                    <a:solidFill>
                      <a:srgbClr val="CCCCCC"/>
                    </a:solidFill>
                  </a:tcPr>
                </a:tc>
                <a:tc>
                  <a:txBody>
                    <a:bodyPr/>
                    <a:lstStyle/>
                    <a:p>
                      <a:pPr indent="0" lvl="0" marL="0" rtl="0" algn="l">
                        <a:lnSpc>
                          <a:spcPct val="130000"/>
                        </a:lnSpc>
                        <a:spcBef>
                          <a:spcPts val="0"/>
                        </a:spcBef>
                        <a:spcAft>
                          <a:spcPts val="0"/>
                        </a:spcAft>
                        <a:buNone/>
                      </a:pPr>
                      <a:r>
                        <a:rPr lang="fr" sz="1100">
                          <a:solidFill>
                            <a:srgbClr val="2D3748"/>
                          </a:solidFill>
                          <a:latin typeface="Inter"/>
                          <a:ea typeface="Inter"/>
                          <a:cs typeface="Inter"/>
                          <a:sym typeface="Inter"/>
                        </a:rPr>
                        <a:t>Versioning, suivi et exécution des migrations successives du schéma.</a:t>
                      </a:r>
                      <a:endParaRPr sz="1100">
                        <a:solidFill>
                          <a:srgbClr val="2D3748"/>
                        </a:solidFill>
                        <a:latin typeface="Inter"/>
                        <a:ea typeface="Inter"/>
                        <a:cs typeface="Inter"/>
                        <a:sym typeface="Inter"/>
                      </a:endParaRPr>
                    </a:p>
                  </a:txBody>
                  <a:tcPr marT="101600" marB="101600" marR="127000" marL="127000">
                    <a:solidFill>
                      <a:srgbClr val="CCCCCC"/>
                    </a:solidFill>
                  </a:tcPr>
                </a:tc>
              </a:tr>
              <a:tr h="610225">
                <a:tc>
                  <a:txBody>
                    <a:bodyPr/>
                    <a:lstStyle/>
                    <a:p>
                      <a:pPr indent="0" lvl="0" marL="0" rtl="0" algn="l">
                        <a:lnSpc>
                          <a:spcPct val="130000"/>
                        </a:lnSpc>
                        <a:spcBef>
                          <a:spcPts val="0"/>
                        </a:spcBef>
                        <a:spcAft>
                          <a:spcPts val="0"/>
                        </a:spcAft>
                        <a:buNone/>
                      </a:pPr>
                      <a:r>
                        <a:rPr b="1" lang="fr" sz="1100">
                          <a:solidFill>
                            <a:srgbClr val="2D3748"/>
                          </a:solidFill>
                          <a:latin typeface="Inter"/>
                          <a:ea typeface="Inter"/>
                          <a:cs typeface="Inter"/>
                          <a:sym typeface="Inter"/>
                        </a:rPr>
                        <a:t>Interface Web</a:t>
                      </a:r>
                      <a:endParaRPr sz="1100">
                        <a:solidFill>
                          <a:srgbClr val="2D3748"/>
                        </a:solidFill>
                        <a:latin typeface="Inter"/>
                        <a:ea typeface="Inter"/>
                        <a:cs typeface="Inter"/>
                        <a:sym typeface="Inter"/>
                      </a:endParaRPr>
                    </a:p>
                  </a:txBody>
                  <a:tcPr marT="101600" marB="101600" marR="127000" marL="127000">
                    <a:solidFill>
                      <a:srgbClr val="CCCCCC"/>
                    </a:solidFill>
                  </a:tcPr>
                </a:tc>
                <a:tc>
                  <a:txBody>
                    <a:bodyPr/>
                    <a:lstStyle/>
                    <a:p>
                      <a:pPr indent="0" lvl="0" marL="0" rtl="0" algn="l">
                        <a:lnSpc>
                          <a:spcPct val="130000"/>
                        </a:lnSpc>
                        <a:spcBef>
                          <a:spcPts val="0"/>
                        </a:spcBef>
                        <a:spcAft>
                          <a:spcPts val="0"/>
                        </a:spcAft>
                        <a:buNone/>
                      </a:pPr>
                      <a:r>
                        <a:rPr lang="fr" sz="1100">
                          <a:solidFill>
                            <a:srgbClr val="2D3748"/>
                          </a:solidFill>
                          <a:latin typeface="Inter"/>
                          <a:ea typeface="Inter"/>
                          <a:cs typeface="Inter"/>
                          <a:sym typeface="Inter"/>
                        </a:rPr>
                        <a:t>Flask</a:t>
                      </a:r>
                      <a:endParaRPr sz="1100">
                        <a:solidFill>
                          <a:srgbClr val="2D3748"/>
                        </a:solidFill>
                        <a:latin typeface="Inter"/>
                        <a:ea typeface="Inter"/>
                        <a:cs typeface="Inter"/>
                        <a:sym typeface="Inter"/>
                      </a:endParaRPr>
                    </a:p>
                  </a:txBody>
                  <a:tcPr marT="101600" marB="101600" marR="127000" marL="127000">
                    <a:solidFill>
                      <a:srgbClr val="CCCCCC"/>
                    </a:solidFill>
                  </a:tcPr>
                </a:tc>
                <a:tc>
                  <a:txBody>
                    <a:bodyPr/>
                    <a:lstStyle/>
                    <a:p>
                      <a:pPr indent="0" lvl="0" marL="0" rtl="0" algn="l">
                        <a:lnSpc>
                          <a:spcPct val="130000"/>
                        </a:lnSpc>
                        <a:spcBef>
                          <a:spcPts val="0"/>
                        </a:spcBef>
                        <a:spcAft>
                          <a:spcPts val="0"/>
                        </a:spcAft>
                        <a:buNone/>
                      </a:pPr>
                      <a:r>
                        <a:rPr lang="fr" sz="1100">
                          <a:solidFill>
                            <a:srgbClr val="2D3748"/>
                          </a:solidFill>
                          <a:latin typeface="Inter"/>
                          <a:ea typeface="Inter"/>
                          <a:cs typeface="Inter"/>
                          <a:sym typeface="Inter"/>
                        </a:rPr>
                        <a:t>Application web de gestion interne avec tableau de bord interactif.</a:t>
                      </a:r>
                      <a:endParaRPr sz="1100">
                        <a:solidFill>
                          <a:srgbClr val="2D3748"/>
                        </a:solidFill>
                        <a:latin typeface="Inter"/>
                        <a:ea typeface="Inter"/>
                        <a:cs typeface="Inter"/>
                        <a:sym typeface="Inter"/>
                      </a:endParaRPr>
                    </a:p>
                  </a:txBody>
                  <a:tcPr marT="101600" marB="101600" marR="127000" marL="127000">
                    <a:solidFill>
                      <a:srgbClr val="CCCCCC"/>
                    </a:solidFill>
                  </a:tcPr>
                </a:tc>
              </a:tr>
              <a:tr h="818675">
                <a:tc>
                  <a:txBody>
                    <a:bodyPr/>
                    <a:lstStyle/>
                    <a:p>
                      <a:pPr indent="0" lvl="0" marL="0" rtl="0" algn="l">
                        <a:lnSpc>
                          <a:spcPct val="130000"/>
                        </a:lnSpc>
                        <a:spcBef>
                          <a:spcPts val="0"/>
                        </a:spcBef>
                        <a:spcAft>
                          <a:spcPts val="0"/>
                        </a:spcAft>
                        <a:buNone/>
                      </a:pPr>
                      <a:r>
                        <a:rPr b="1" lang="fr" sz="1100">
                          <a:solidFill>
                            <a:srgbClr val="2D3748"/>
                          </a:solidFill>
                          <a:latin typeface="Inter"/>
                          <a:ea typeface="Inter"/>
                          <a:cs typeface="Inter"/>
                          <a:sym typeface="Inter"/>
                        </a:rPr>
                        <a:t>Versionning Code</a:t>
                      </a:r>
                      <a:endParaRPr sz="1100">
                        <a:solidFill>
                          <a:srgbClr val="2D3748"/>
                        </a:solidFill>
                        <a:latin typeface="Inter"/>
                        <a:ea typeface="Inter"/>
                        <a:cs typeface="Inter"/>
                        <a:sym typeface="Inter"/>
                      </a:endParaRPr>
                    </a:p>
                  </a:txBody>
                  <a:tcPr marT="101600" marB="101600" marR="127000" marL="127000">
                    <a:solidFill>
                      <a:srgbClr val="CCCCCC"/>
                    </a:solidFill>
                  </a:tcPr>
                </a:tc>
                <a:tc>
                  <a:txBody>
                    <a:bodyPr/>
                    <a:lstStyle/>
                    <a:p>
                      <a:pPr indent="0" lvl="0" marL="0" rtl="0" algn="l">
                        <a:lnSpc>
                          <a:spcPct val="130000"/>
                        </a:lnSpc>
                        <a:spcBef>
                          <a:spcPts val="0"/>
                        </a:spcBef>
                        <a:spcAft>
                          <a:spcPts val="0"/>
                        </a:spcAft>
                        <a:buNone/>
                      </a:pPr>
                      <a:r>
                        <a:rPr lang="fr" sz="1100">
                          <a:solidFill>
                            <a:srgbClr val="2D3748"/>
                          </a:solidFill>
                          <a:latin typeface="Inter"/>
                          <a:ea typeface="Inter"/>
                          <a:cs typeface="Inter"/>
                          <a:sym typeface="Inter"/>
                        </a:rPr>
                        <a:t>GitHub</a:t>
                      </a:r>
                      <a:endParaRPr sz="1100">
                        <a:solidFill>
                          <a:srgbClr val="2D3748"/>
                        </a:solidFill>
                        <a:latin typeface="Inter"/>
                        <a:ea typeface="Inter"/>
                        <a:cs typeface="Inter"/>
                        <a:sym typeface="Inter"/>
                      </a:endParaRPr>
                    </a:p>
                  </a:txBody>
                  <a:tcPr marT="101600" marB="101600" marR="127000" marL="127000">
                    <a:solidFill>
                      <a:srgbClr val="CCCCCC"/>
                    </a:solidFill>
                  </a:tcPr>
                </a:tc>
                <a:tc>
                  <a:txBody>
                    <a:bodyPr/>
                    <a:lstStyle/>
                    <a:p>
                      <a:pPr indent="0" lvl="0" marL="0" rtl="0" algn="l">
                        <a:lnSpc>
                          <a:spcPct val="130000"/>
                        </a:lnSpc>
                        <a:spcBef>
                          <a:spcPts val="0"/>
                        </a:spcBef>
                        <a:spcAft>
                          <a:spcPts val="0"/>
                        </a:spcAft>
                        <a:buNone/>
                      </a:pPr>
                      <a:r>
                        <a:rPr lang="fr" sz="1100">
                          <a:solidFill>
                            <a:srgbClr val="2D3748"/>
                          </a:solidFill>
                          <a:latin typeface="Inter"/>
                          <a:ea typeface="Inter"/>
                          <a:cs typeface="Inter"/>
                          <a:sym typeface="Inter"/>
                        </a:rPr>
                        <a:t>Collaboration en équipe par fonctionnalités (</a:t>
                      </a:r>
                      <a:r>
                        <a:rPr i="1" lang="fr" sz="1100">
                          <a:solidFill>
                            <a:srgbClr val="2D3748"/>
                          </a:solidFill>
                          <a:latin typeface="Inter"/>
                          <a:ea typeface="Inter"/>
                          <a:cs typeface="Inter"/>
                          <a:sym typeface="Inter"/>
                        </a:rPr>
                        <a:t>feature branches</a:t>
                      </a:r>
                      <a:r>
                        <a:rPr lang="fr" sz="1100">
                          <a:solidFill>
                            <a:srgbClr val="2D3748"/>
                          </a:solidFill>
                          <a:latin typeface="Inter"/>
                          <a:ea typeface="Inter"/>
                          <a:cs typeface="Inter"/>
                          <a:sym typeface="Inter"/>
                        </a:rPr>
                        <a:t> &amp; </a:t>
                      </a:r>
                      <a:r>
                        <a:rPr i="1" lang="fr" sz="1100">
                          <a:solidFill>
                            <a:srgbClr val="2D3748"/>
                          </a:solidFill>
                          <a:latin typeface="Inter"/>
                          <a:ea typeface="Inter"/>
                          <a:cs typeface="Inter"/>
                          <a:sym typeface="Inter"/>
                        </a:rPr>
                        <a:t>PRs</a:t>
                      </a:r>
                      <a:r>
                        <a:rPr lang="fr" sz="1100">
                          <a:solidFill>
                            <a:srgbClr val="2D3748"/>
                          </a:solidFill>
                          <a:latin typeface="Inter"/>
                          <a:ea typeface="Inter"/>
                          <a:cs typeface="Inter"/>
                          <a:sym typeface="Inter"/>
                        </a:rPr>
                        <a:t>).</a:t>
                      </a:r>
                      <a:endParaRPr sz="1100">
                        <a:solidFill>
                          <a:srgbClr val="2D3748"/>
                        </a:solidFill>
                        <a:latin typeface="Inter"/>
                        <a:ea typeface="Inter"/>
                        <a:cs typeface="Inter"/>
                        <a:sym typeface="Inter"/>
                      </a:endParaRPr>
                    </a:p>
                  </a:txBody>
                  <a:tcPr marT="101600" marB="101600" marR="127000" marL="127000">
                    <a:solidFill>
                      <a:srgbClr val="CCCCCC"/>
                    </a:solidFill>
                  </a:tcPr>
                </a:tc>
              </a:tr>
            </a:tbl>
          </a:graphicData>
        </a:graphic>
      </p:graphicFrame>
      <p:pic>
        <p:nvPicPr>
          <p:cNvPr descr="Hand holding Global world telecommunication network connected around planet Earth.Searching Browsing Internet Data Information Networking Concept with document  search bar. (fourni par Getty Images)" id="103" name="Google Shape;103;p18"/>
          <p:cNvPicPr preferRelativeResize="0"/>
          <p:nvPr/>
        </p:nvPicPr>
        <p:blipFill>
          <a:blip r:embed="rId3">
            <a:alphaModFix/>
          </a:blip>
          <a:stretch>
            <a:fillRect/>
          </a:stretch>
        </p:blipFill>
        <p:spPr>
          <a:xfrm>
            <a:off x="6624950" y="54125"/>
            <a:ext cx="2478049" cy="8482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07" name="Shape 107"/>
        <p:cNvGrpSpPr/>
        <p:nvPr/>
      </p:nvGrpSpPr>
      <p:grpSpPr>
        <a:xfrm>
          <a:off x="0" y="0"/>
          <a:ext cx="0" cy="0"/>
          <a:chOff x="0" y="0"/>
          <a:chExt cx="0" cy="0"/>
        </a:xfrm>
      </p:grpSpPr>
      <p:sp>
        <p:nvSpPr>
          <p:cNvPr id="108" name="Google Shape;108;p19"/>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lnSpc>
                <a:spcPct val="110000"/>
              </a:lnSpc>
              <a:spcBef>
                <a:spcPts val="2400"/>
              </a:spcBef>
              <a:spcAft>
                <a:spcPts val="600"/>
              </a:spcAft>
              <a:buClr>
                <a:schemeClr val="dk1"/>
              </a:buClr>
              <a:buSzPts val="1100"/>
              <a:buFont typeface="Arial"/>
              <a:buNone/>
            </a:pPr>
            <a:r>
              <a:rPr b="1" lang="fr" sz="2400" u="sng">
                <a:solidFill>
                  <a:srgbClr val="1A365D"/>
                </a:solidFill>
                <a:latin typeface="Inter"/>
                <a:ea typeface="Inter"/>
                <a:cs typeface="Inter"/>
                <a:sym typeface="Inter"/>
              </a:rPr>
              <a:t>3. Modélisation des Utilisateurs (Héritage Objet)</a:t>
            </a:r>
            <a:endParaRPr u="sng"/>
          </a:p>
        </p:txBody>
      </p:sp>
      <p:sp>
        <p:nvSpPr>
          <p:cNvPr id="109" name="Google Shape;109;p1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lnSpc>
                <a:spcPct val="120000"/>
              </a:lnSpc>
              <a:spcBef>
                <a:spcPts val="2400"/>
              </a:spcBef>
              <a:spcAft>
                <a:spcPts val="0"/>
              </a:spcAft>
              <a:buClr>
                <a:schemeClr val="dk1"/>
              </a:buClr>
              <a:buSzPts val="1100"/>
              <a:buFont typeface="Arial"/>
              <a:buNone/>
            </a:pPr>
            <a:r>
              <a:rPr b="1" i="1" lang="fr" sz="1600">
                <a:solidFill>
                  <a:srgbClr val="2B6CB0"/>
                </a:solidFill>
                <a:latin typeface="Inter"/>
                <a:ea typeface="Inter"/>
                <a:cs typeface="Inter"/>
                <a:sym typeface="Inter"/>
              </a:rPr>
              <a:t>Classe Mère : </a:t>
            </a:r>
            <a:r>
              <a:rPr b="1" i="1" lang="fr" sz="1600">
                <a:solidFill>
                  <a:srgbClr val="188038"/>
                </a:solidFill>
                <a:latin typeface="Roboto Mono"/>
                <a:ea typeface="Roboto Mono"/>
                <a:cs typeface="Roboto Mono"/>
                <a:sym typeface="Roboto Mono"/>
              </a:rPr>
              <a:t>UserBase</a:t>
            </a:r>
            <a:r>
              <a:rPr b="1" i="1" lang="fr" sz="1600">
                <a:solidFill>
                  <a:srgbClr val="2B6CB0"/>
                </a:solidFill>
                <a:latin typeface="Inter"/>
                <a:ea typeface="Inter"/>
                <a:cs typeface="Inter"/>
                <a:sym typeface="Inter"/>
              </a:rPr>
              <a:t> (Abstraite)</a:t>
            </a:r>
            <a:endParaRPr b="1" i="1" sz="1600">
              <a:solidFill>
                <a:srgbClr val="2B6CB0"/>
              </a:solidFill>
              <a:latin typeface="Inter"/>
              <a:ea typeface="Inter"/>
              <a:cs typeface="Inter"/>
              <a:sym typeface="Inter"/>
            </a:endParaRPr>
          </a:p>
          <a:p>
            <a:pPr indent="0" lvl="0" marL="0" rtl="0" algn="l">
              <a:lnSpc>
                <a:spcPct val="130000"/>
              </a:lnSpc>
              <a:spcBef>
                <a:spcPts val="600"/>
              </a:spcBef>
              <a:spcAft>
                <a:spcPts val="0"/>
              </a:spcAft>
              <a:buClr>
                <a:schemeClr val="dk1"/>
              </a:buClr>
              <a:buSzPts val="1100"/>
              <a:buFont typeface="Arial"/>
              <a:buNone/>
            </a:pPr>
            <a:r>
              <a:rPr lang="fr" sz="1100">
                <a:solidFill>
                  <a:srgbClr val="2D3748"/>
                </a:solidFill>
                <a:latin typeface="Inter"/>
                <a:ea typeface="Inter"/>
                <a:cs typeface="Inter"/>
                <a:sym typeface="Inter"/>
              </a:rPr>
              <a:t>Regroupe les attributs communs à l'ensemble des acteurs du système : </a:t>
            </a:r>
            <a:r>
              <a:rPr lang="fr" sz="1100">
                <a:solidFill>
                  <a:srgbClr val="188038"/>
                </a:solidFill>
                <a:latin typeface="Roboto Mono"/>
                <a:ea typeface="Roboto Mono"/>
                <a:cs typeface="Roboto Mono"/>
                <a:sym typeface="Roboto Mono"/>
              </a:rPr>
              <a:t>nom</a:t>
            </a:r>
            <a:r>
              <a:rPr lang="fr" sz="1100">
                <a:solidFill>
                  <a:srgbClr val="2D3748"/>
                </a:solidFill>
                <a:latin typeface="Inter"/>
                <a:ea typeface="Inter"/>
                <a:cs typeface="Inter"/>
                <a:sym typeface="Inter"/>
              </a:rPr>
              <a:t>, </a:t>
            </a:r>
            <a:r>
              <a:rPr lang="fr" sz="1100">
                <a:solidFill>
                  <a:srgbClr val="188038"/>
                </a:solidFill>
                <a:latin typeface="Roboto Mono"/>
                <a:ea typeface="Roboto Mono"/>
                <a:cs typeface="Roboto Mono"/>
                <a:sym typeface="Roboto Mono"/>
              </a:rPr>
              <a:t>prenom</a:t>
            </a:r>
            <a:r>
              <a:rPr lang="fr" sz="1100">
                <a:solidFill>
                  <a:srgbClr val="2D3748"/>
                </a:solidFill>
                <a:latin typeface="Inter"/>
                <a:ea typeface="Inter"/>
                <a:cs typeface="Inter"/>
                <a:sym typeface="Inter"/>
              </a:rPr>
              <a:t>, </a:t>
            </a:r>
            <a:r>
              <a:rPr lang="fr" sz="1100">
                <a:solidFill>
                  <a:srgbClr val="188038"/>
                </a:solidFill>
                <a:latin typeface="Roboto Mono"/>
                <a:ea typeface="Roboto Mono"/>
                <a:cs typeface="Roboto Mono"/>
                <a:sym typeface="Roboto Mono"/>
              </a:rPr>
              <a:t>email</a:t>
            </a:r>
            <a:r>
              <a:rPr lang="fr" sz="1100">
                <a:solidFill>
                  <a:srgbClr val="2D3748"/>
                </a:solidFill>
                <a:latin typeface="Inter"/>
                <a:ea typeface="Inter"/>
                <a:cs typeface="Inter"/>
                <a:sym typeface="Inter"/>
              </a:rPr>
              <a:t> (unique), </a:t>
            </a:r>
            <a:r>
              <a:rPr lang="fr" sz="1100">
                <a:solidFill>
                  <a:srgbClr val="188038"/>
                </a:solidFill>
                <a:latin typeface="Roboto Mono"/>
                <a:ea typeface="Roboto Mono"/>
                <a:cs typeface="Roboto Mono"/>
                <a:sym typeface="Roboto Mono"/>
              </a:rPr>
              <a:t>date_creation</a:t>
            </a:r>
            <a:r>
              <a:rPr lang="fr" sz="1100">
                <a:solidFill>
                  <a:srgbClr val="2D3748"/>
                </a:solidFill>
                <a:latin typeface="Inter"/>
                <a:ea typeface="Inter"/>
                <a:cs typeface="Inter"/>
                <a:sym typeface="Inter"/>
              </a:rPr>
              <a:t>, </a:t>
            </a:r>
            <a:r>
              <a:rPr lang="fr" sz="1100">
                <a:solidFill>
                  <a:srgbClr val="188038"/>
                </a:solidFill>
                <a:latin typeface="Roboto Mono"/>
                <a:ea typeface="Roboto Mono"/>
                <a:cs typeface="Roboto Mono"/>
                <a:sym typeface="Roboto Mono"/>
              </a:rPr>
              <a:t>is_active</a:t>
            </a:r>
            <a:r>
              <a:rPr lang="fr" sz="1100">
                <a:solidFill>
                  <a:srgbClr val="2D3748"/>
                </a:solidFill>
                <a:latin typeface="Inter"/>
                <a:ea typeface="Inter"/>
                <a:cs typeface="Inter"/>
                <a:sym typeface="Inter"/>
              </a:rPr>
              <a:t>, </a:t>
            </a:r>
            <a:r>
              <a:rPr lang="fr" sz="1100">
                <a:solidFill>
                  <a:srgbClr val="188038"/>
                </a:solidFill>
                <a:latin typeface="Roboto Mono"/>
                <a:ea typeface="Roboto Mono"/>
                <a:cs typeface="Roboto Mono"/>
                <a:sym typeface="Roboto Mono"/>
              </a:rPr>
              <a:t>role</a:t>
            </a:r>
            <a:r>
              <a:rPr lang="fr" sz="1100">
                <a:solidFill>
                  <a:srgbClr val="2D3748"/>
                </a:solidFill>
                <a:latin typeface="Inter"/>
                <a:ea typeface="Inter"/>
                <a:cs typeface="Inter"/>
                <a:sym typeface="Inter"/>
              </a:rPr>
              <a:t>.</a:t>
            </a:r>
            <a:endParaRPr sz="1100">
              <a:solidFill>
                <a:srgbClr val="2D3748"/>
              </a:solidFill>
              <a:latin typeface="Inter"/>
              <a:ea typeface="Inter"/>
              <a:cs typeface="Inter"/>
              <a:sym typeface="Inter"/>
            </a:endParaRPr>
          </a:p>
          <a:p>
            <a:pPr indent="0" lvl="0" marL="0" rtl="0" algn="l">
              <a:lnSpc>
                <a:spcPct val="120000"/>
              </a:lnSpc>
              <a:spcBef>
                <a:spcPts val="2400"/>
              </a:spcBef>
              <a:spcAft>
                <a:spcPts val="0"/>
              </a:spcAft>
              <a:buClr>
                <a:schemeClr val="dk1"/>
              </a:buClr>
              <a:buSzPts val="1100"/>
              <a:buFont typeface="Arial"/>
              <a:buNone/>
            </a:pPr>
            <a:r>
              <a:rPr b="1" i="1" lang="fr" sz="1600">
                <a:solidFill>
                  <a:srgbClr val="2B6CB0"/>
                </a:solidFill>
                <a:latin typeface="Inter"/>
                <a:ea typeface="Inter"/>
                <a:cs typeface="Inter"/>
                <a:sym typeface="Inter"/>
              </a:rPr>
              <a:t>Classes Filles (Tables Dédiées)</a:t>
            </a:r>
            <a:endParaRPr b="1" i="1" sz="1600">
              <a:solidFill>
                <a:srgbClr val="2B6CB0"/>
              </a:solidFill>
              <a:latin typeface="Inter"/>
              <a:ea typeface="Inter"/>
              <a:cs typeface="Inter"/>
              <a:sym typeface="Inter"/>
            </a:endParaRPr>
          </a:p>
          <a:p>
            <a:pPr indent="-298450" lvl="0" marL="457200" rtl="0" algn="l">
              <a:lnSpc>
                <a:spcPct val="130000"/>
              </a:lnSpc>
              <a:spcBef>
                <a:spcPts val="600"/>
              </a:spcBef>
              <a:spcAft>
                <a:spcPts val="0"/>
              </a:spcAft>
              <a:buClr>
                <a:schemeClr val="dk1"/>
              </a:buClr>
              <a:buSzPts val="1100"/>
              <a:buChar char="●"/>
            </a:pPr>
            <a:r>
              <a:rPr b="1" lang="fr" sz="1100">
                <a:solidFill>
                  <a:srgbClr val="2D3748"/>
                </a:solidFill>
                <a:latin typeface="Inter"/>
                <a:ea typeface="Inter"/>
                <a:cs typeface="Inter"/>
                <a:sym typeface="Inter"/>
              </a:rPr>
              <a:t>Apprenant :</a:t>
            </a:r>
            <a:r>
              <a:rPr lang="fr" sz="1100">
                <a:solidFill>
                  <a:srgbClr val="2D3748"/>
                </a:solidFill>
                <a:latin typeface="Inter"/>
                <a:ea typeface="Inter"/>
                <a:cs typeface="Inter"/>
                <a:sym typeface="Inter"/>
              </a:rPr>
              <a:t> </a:t>
            </a:r>
            <a:r>
              <a:rPr lang="fr" sz="1100">
                <a:solidFill>
                  <a:srgbClr val="188038"/>
                </a:solidFill>
                <a:latin typeface="Roboto Mono"/>
                <a:ea typeface="Roboto Mono"/>
                <a:cs typeface="Roboto Mono"/>
                <a:sym typeface="Roboto Mono"/>
              </a:rPr>
              <a:t>date_naissance</a:t>
            </a:r>
            <a:r>
              <a:rPr lang="fr" sz="1100">
                <a:solidFill>
                  <a:srgbClr val="2D3748"/>
                </a:solidFill>
                <a:latin typeface="Inter"/>
                <a:ea typeface="Inter"/>
                <a:cs typeface="Inter"/>
                <a:sym typeface="Inter"/>
              </a:rPr>
              <a:t> (contrôle ≥ 16 ans), </a:t>
            </a:r>
            <a:r>
              <a:rPr lang="fr" sz="1100">
                <a:solidFill>
                  <a:srgbClr val="188038"/>
                </a:solidFill>
                <a:latin typeface="Roboto Mono"/>
                <a:ea typeface="Roboto Mono"/>
                <a:cs typeface="Roboto Mono"/>
                <a:sym typeface="Roboto Mono"/>
              </a:rPr>
              <a:t>telephone</a:t>
            </a:r>
            <a:r>
              <a:rPr lang="fr" sz="1100">
                <a:solidFill>
                  <a:srgbClr val="2D3748"/>
                </a:solidFill>
                <a:latin typeface="Inter"/>
                <a:ea typeface="Inter"/>
                <a:cs typeface="Inter"/>
                <a:sym typeface="Inter"/>
              </a:rPr>
              <a:t> (validation regex), </a:t>
            </a:r>
            <a:r>
              <a:rPr lang="fr" sz="1100">
                <a:solidFill>
                  <a:srgbClr val="188038"/>
                </a:solidFill>
                <a:latin typeface="Roboto Mono"/>
                <a:ea typeface="Roboto Mono"/>
                <a:cs typeface="Roboto Mono"/>
                <a:sym typeface="Roboto Mono"/>
              </a:rPr>
              <a:t>niveau_etude</a:t>
            </a:r>
            <a:r>
              <a:rPr lang="fr" sz="1100">
                <a:solidFill>
                  <a:srgbClr val="2D3748"/>
                </a:solidFill>
                <a:latin typeface="Inter"/>
                <a:ea typeface="Inter"/>
                <a:cs typeface="Inter"/>
                <a:sym typeface="Inter"/>
              </a:rPr>
              <a:t>.</a:t>
            </a:r>
            <a:endParaRPr sz="1100">
              <a:solidFill>
                <a:srgbClr val="2D3748"/>
              </a:solidFill>
              <a:latin typeface="Inter"/>
              <a:ea typeface="Inter"/>
              <a:cs typeface="Inter"/>
              <a:sym typeface="Inter"/>
            </a:endParaRPr>
          </a:p>
          <a:p>
            <a:pPr indent="-298450" lvl="0" marL="457200" rtl="0" algn="l">
              <a:lnSpc>
                <a:spcPct val="130000"/>
              </a:lnSpc>
              <a:spcBef>
                <a:spcPts val="0"/>
              </a:spcBef>
              <a:spcAft>
                <a:spcPts val="0"/>
              </a:spcAft>
              <a:buClr>
                <a:schemeClr val="dk1"/>
              </a:buClr>
              <a:buSzPts val="1100"/>
              <a:buChar char="●"/>
            </a:pPr>
            <a:r>
              <a:rPr b="1" lang="fr" sz="1100">
                <a:solidFill>
                  <a:srgbClr val="2D3748"/>
                </a:solidFill>
                <a:latin typeface="Inter"/>
                <a:ea typeface="Inter"/>
                <a:cs typeface="Inter"/>
                <a:sym typeface="Inter"/>
              </a:rPr>
              <a:t>Formateur :</a:t>
            </a:r>
            <a:r>
              <a:rPr lang="fr" sz="1100">
                <a:solidFill>
                  <a:srgbClr val="2D3748"/>
                </a:solidFill>
                <a:latin typeface="Inter"/>
                <a:ea typeface="Inter"/>
                <a:cs typeface="Inter"/>
                <a:sym typeface="Inter"/>
              </a:rPr>
              <a:t> </a:t>
            </a:r>
            <a:r>
              <a:rPr lang="fr" sz="1100">
                <a:solidFill>
                  <a:srgbClr val="188038"/>
                </a:solidFill>
                <a:latin typeface="Roboto Mono"/>
                <a:ea typeface="Roboto Mono"/>
                <a:cs typeface="Roboto Mono"/>
                <a:sym typeface="Roboto Mono"/>
              </a:rPr>
              <a:t>specialite</a:t>
            </a:r>
            <a:r>
              <a:rPr lang="fr" sz="1100">
                <a:solidFill>
                  <a:srgbClr val="2D3748"/>
                </a:solidFill>
                <a:latin typeface="Inter"/>
                <a:ea typeface="Inter"/>
                <a:cs typeface="Inter"/>
                <a:sym typeface="Inter"/>
              </a:rPr>
              <a:t>, </a:t>
            </a:r>
            <a:r>
              <a:rPr lang="fr" sz="1100">
                <a:solidFill>
                  <a:srgbClr val="188038"/>
                </a:solidFill>
                <a:latin typeface="Roboto Mono"/>
                <a:ea typeface="Roboto Mono"/>
                <a:cs typeface="Roboto Mono"/>
                <a:sym typeface="Roboto Mono"/>
              </a:rPr>
              <a:t>taux_horaire</a:t>
            </a:r>
            <a:r>
              <a:rPr lang="fr" sz="1100">
                <a:solidFill>
                  <a:srgbClr val="2D3748"/>
                </a:solidFill>
                <a:latin typeface="Inter"/>
                <a:ea typeface="Inter"/>
                <a:cs typeface="Inter"/>
                <a:sym typeface="Inter"/>
              </a:rPr>
              <a:t> (contrôle ≥ 0), </a:t>
            </a:r>
            <a:r>
              <a:rPr lang="fr" sz="1100">
                <a:solidFill>
                  <a:srgbClr val="188038"/>
                </a:solidFill>
                <a:latin typeface="Roboto Mono"/>
                <a:ea typeface="Roboto Mono"/>
                <a:cs typeface="Roboto Mono"/>
                <a:sym typeface="Roboto Mono"/>
              </a:rPr>
              <a:t>date_embauche</a:t>
            </a:r>
            <a:r>
              <a:rPr lang="fr" sz="1100">
                <a:solidFill>
                  <a:srgbClr val="2D3748"/>
                </a:solidFill>
                <a:latin typeface="Inter"/>
                <a:ea typeface="Inter"/>
                <a:cs typeface="Inter"/>
                <a:sym typeface="Inter"/>
              </a:rPr>
              <a:t>.</a:t>
            </a:r>
            <a:endParaRPr sz="1100">
              <a:solidFill>
                <a:srgbClr val="2D3748"/>
              </a:solidFill>
              <a:latin typeface="Inter"/>
              <a:ea typeface="Inter"/>
              <a:cs typeface="Inter"/>
              <a:sym typeface="Inter"/>
            </a:endParaRPr>
          </a:p>
          <a:p>
            <a:pPr indent="-298450" lvl="0" marL="457200" rtl="0" algn="l">
              <a:lnSpc>
                <a:spcPct val="130000"/>
              </a:lnSpc>
              <a:spcBef>
                <a:spcPts val="0"/>
              </a:spcBef>
              <a:spcAft>
                <a:spcPts val="0"/>
              </a:spcAft>
              <a:buClr>
                <a:schemeClr val="dk1"/>
              </a:buClr>
              <a:buSzPts val="1100"/>
              <a:buChar char="●"/>
            </a:pPr>
            <a:r>
              <a:rPr b="1" lang="fr" sz="1100">
                <a:solidFill>
                  <a:srgbClr val="2D3748"/>
                </a:solidFill>
                <a:latin typeface="Inter"/>
                <a:ea typeface="Inter"/>
                <a:cs typeface="Inter"/>
                <a:sym typeface="Inter"/>
              </a:rPr>
              <a:t>Staff Pédagogique :</a:t>
            </a:r>
            <a:r>
              <a:rPr lang="fr" sz="1100">
                <a:solidFill>
                  <a:srgbClr val="2D3748"/>
                </a:solidFill>
                <a:latin typeface="Inter"/>
                <a:ea typeface="Inter"/>
                <a:cs typeface="Inter"/>
                <a:sym typeface="Inter"/>
              </a:rPr>
              <a:t> </a:t>
            </a:r>
            <a:r>
              <a:rPr lang="fr" sz="1100">
                <a:solidFill>
                  <a:srgbClr val="188038"/>
                </a:solidFill>
                <a:latin typeface="Roboto Mono"/>
                <a:ea typeface="Roboto Mono"/>
                <a:cs typeface="Roboto Mono"/>
                <a:sym typeface="Roboto Mono"/>
              </a:rPr>
              <a:t>poste</a:t>
            </a:r>
            <a:r>
              <a:rPr lang="fr" sz="1100">
                <a:solidFill>
                  <a:srgbClr val="2D3748"/>
                </a:solidFill>
                <a:latin typeface="Inter"/>
                <a:ea typeface="Inter"/>
                <a:cs typeface="Inter"/>
                <a:sym typeface="Inter"/>
              </a:rPr>
              <a:t>, </a:t>
            </a:r>
            <a:r>
              <a:rPr lang="fr" sz="1100">
                <a:solidFill>
                  <a:srgbClr val="188038"/>
                </a:solidFill>
                <a:latin typeface="Roboto Mono"/>
                <a:ea typeface="Roboto Mono"/>
                <a:cs typeface="Roboto Mono"/>
                <a:sym typeface="Roboto Mono"/>
              </a:rPr>
              <a:t>date_prise_fonction</a:t>
            </a:r>
            <a:r>
              <a:rPr lang="fr" sz="1100">
                <a:solidFill>
                  <a:srgbClr val="2D3748"/>
                </a:solidFill>
                <a:latin typeface="Inter"/>
                <a:ea typeface="Inter"/>
                <a:cs typeface="Inter"/>
                <a:sym typeface="Inter"/>
              </a:rPr>
              <a:t>, </a:t>
            </a:r>
            <a:r>
              <a:rPr lang="fr" sz="1100">
                <a:solidFill>
                  <a:srgbClr val="188038"/>
                </a:solidFill>
                <a:latin typeface="Roboto Mono"/>
                <a:ea typeface="Roboto Mono"/>
                <a:cs typeface="Roboto Mono"/>
                <a:sym typeface="Roboto Mono"/>
              </a:rPr>
              <a:t>responsabilites</a:t>
            </a:r>
            <a:r>
              <a:rPr lang="fr" sz="1100">
                <a:solidFill>
                  <a:srgbClr val="2D3748"/>
                </a:solidFill>
                <a:latin typeface="Inter"/>
                <a:ea typeface="Inter"/>
                <a:cs typeface="Inter"/>
                <a:sym typeface="Inter"/>
              </a:rPr>
              <a:t>.</a:t>
            </a:r>
            <a:endParaRPr sz="1100">
              <a:solidFill>
                <a:srgbClr val="2D3748"/>
              </a:solidFill>
              <a:latin typeface="Inter"/>
              <a:ea typeface="Inter"/>
              <a:cs typeface="Inter"/>
              <a:sym typeface="Inter"/>
            </a:endParaRPr>
          </a:p>
          <a:p>
            <a:pPr indent="-298450" lvl="0" marL="457200" rtl="0" algn="l">
              <a:lnSpc>
                <a:spcPct val="130000"/>
              </a:lnSpc>
              <a:spcBef>
                <a:spcPts val="0"/>
              </a:spcBef>
              <a:spcAft>
                <a:spcPts val="0"/>
              </a:spcAft>
              <a:buClr>
                <a:schemeClr val="dk1"/>
              </a:buClr>
              <a:buSzPts val="1100"/>
              <a:buChar char="●"/>
            </a:pPr>
            <a:r>
              <a:rPr b="1" lang="fr" sz="1100">
                <a:solidFill>
                  <a:srgbClr val="2D3748"/>
                </a:solidFill>
                <a:latin typeface="Inter"/>
                <a:ea typeface="Inter"/>
                <a:cs typeface="Inter"/>
                <a:sym typeface="Inter"/>
              </a:rPr>
              <a:t>Admin / SuperAdmin :</a:t>
            </a:r>
            <a:r>
              <a:rPr lang="fr" sz="1100">
                <a:solidFill>
                  <a:srgbClr val="2D3748"/>
                </a:solidFill>
                <a:latin typeface="Inter"/>
                <a:ea typeface="Inter"/>
                <a:cs typeface="Inter"/>
                <a:sym typeface="Inter"/>
              </a:rPr>
              <a:t> </a:t>
            </a:r>
            <a:r>
              <a:rPr lang="fr" sz="1100">
                <a:solidFill>
                  <a:srgbClr val="188038"/>
                </a:solidFill>
                <a:latin typeface="Roboto Mono"/>
                <a:ea typeface="Roboto Mono"/>
                <a:cs typeface="Roboto Mono"/>
                <a:sym typeface="Roboto Mono"/>
              </a:rPr>
              <a:t>niveau_acces</a:t>
            </a:r>
            <a:r>
              <a:rPr lang="fr" sz="1100">
                <a:solidFill>
                  <a:srgbClr val="2D3748"/>
                </a:solidFill>
                <a:latin typeface="Inter"/>
                <a:ea typeface="Inter"/>
                <a:cs typeface="Inter"/>
                <a:sym typeface="Inter"/>
              </a:rPr>
              <a:t>, </a:t>
            </a:r>
            <a:r>
              <a:rPr lang="fr" sz="1100">
                <a:solidFill>
                  <a:srgbClr val="188038"/>
                </a:solidFill>
                <a:latin typeface="Roboto Mono"/>
                <a:ea typeface="Roboto Mono"/>
                <a:cs typeface="Roboto Mono"/>
                <a:sym typeface="Roboto Mono"/>
              </a:rPr>
              <a:t>date_promotion</a:t>
            </a:r>
            <a:r>
              <a:rPr lang="fr" sz="1100">
                <a:solidFill>
                  <a:srgbClr val="2D3748"/>
                </a:solidFill>
                <a:latin typeface="Inter"/>
                <a:ea typeface="Inter"/>
                <a:cs typeface="Inter"/>
                <a:sym typeface="Inter"/>
              </a:rPr>
              <a:t>.</a:t>
            </a:r>
            <a:endParaRPr/>
          </a:p>
        </p:txBody>
      </p:sp>
      <p:pic>
        <p:nvPicPr>
          <p:cNvPr descr="Database concept icon. Software development tools idea thin line illustration. Mobile device programming and coding. Application management and optimization. Vector isolated outline drawing (fourni par Getty Images)" id="110" name="Google Shape;110;p19"/>
          <p:cNvPicPr preferRelativeResize="0"/>
          <p:nvPr/>
        </p:nvPicPr>
        <p:blipFill>
          <a:blip r:embed="rId3">
            <a:alphaModFix/>
          </a:blip>
          <a:stretch>
            <a:fillRect/>
          </a:stretch>
        </p:blipFill>
        <p:spPr>
          <a:xfrm>
            <a:off x="7561175" y="2827950"/>
            <a:ext cx="1271127" cy="1842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lnSpc>
                <a:spcPct val="110000"/>
              </a:lnSpc>
              <a:spcBef>
                <a:spcPts val="2400"/>
              </a:spcBef>
              <a:spcAft>
                <a:spcPts val="600"/>
              </a:spcAft>
              <a:buClr>
                <a:schemeClr val="dk1"/>
              </a:buClr>
              <a:buSzPts val="1100"/>
              <a:buFont typeface="Arial"/>
              <a:buNone/>
            </a:pPr>
            <a:r>
              <a:rPr b="1" lang="fr" sz="2400" u="sng">
                <a:solidFill>
                  <a:srgbClr val="1A365D"/>
                </a:solidFill>
                <a:latin typeface="Inter"/>
                <a:ea typeface="Inter"/>
                <a:cs typeface="Inter"/>
                <a:sym typeface="Inter"/>
              </a:rPr>
              <a:t>4. Salles, Sessions &amp; Inscriptions</a:t>
            </a:r>
            <a:endParaRPr u="sng"/>
          </a:p>
        </p:txBody>
      </p:sp>
      <p:sp>
        <p:nvSpPr>
          <p:cNvPr id="116" name="Google Shape;116;p2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85000" lnSpcReduction="20000"/>
          </a:bodyPr>
          <a:lstStyle/>
          <a:p>
            <a:pPr indent="0" lvl="0" marL="0" rtl="0" algn="l">
              <a:lnSpc>
                <a:spcPct val="120000"/>
              </a:lnSpc>
              <a:spcBef>
                <a:spcPts val="2400"/>
              </a:spcBef>
              <a:spcAft>
                <a:spcPts val="0"/>
              </a:spcAft>
              <a:buClr>
                <a:schemeClr val="dk1"/>
              </a:buClr>
              <a:buSzPct val="68750"/>
              <a:buFont typeface="Arial"/>
              <a:buNone/>
            </a:pPr>
            <a:r>
              <a:rPr b="1" i="1" lang="fr" sz="1600">
                <a:solidFill>
                  <a:srgbClr val="2B6CB0"/>
                </a:solidFill>
                <a:latin typeface="Inter"/>
                <a:ea typeface="Inter"/>
                <a:cs typeface="Inter"/>
                <a:sym typeface="Inter"/>
              </a:rPr>
              <a:t>Table </a:t>
            </a:r>
            <a:r>
              <a:rPr b="1" i="1" lang="fr" sz="1600">
                <a:solidFill>
                  <a:srgbClr val="188038"/>
                </a:solidFill>
                <a:latin typeface="Roboto Mono"/>
                <a:ea typeface="Roboto Mono"/>
                <a:cs typeface="Roboto Mono"/>
                <a:sym typeface="Roboto Mono"/>
              </a:rPr>
              <a:t>Salle</a:t>
            </a:r>
            <a:endParaRPr b="1" i="1" sz="1600">
              <a:solidFill>
                <a:srgbClr val="2B6CB0"/>
              </a:solidFill>
              <a:latin typeface="Inter"/>
              <a:ea typeface="Inter"/>
              <a:cs typeface="Inter"/>
              <a:sym typeface="Inter"/>
            </a:endParaRPr>
          </a:p>
          <a:p>
            <a:pPr indent="-287973" lvl="0" marL="457200" rtl="0" algn="l">
              <a:lnSpc>
                <a:spcPct val="130000"/>
              </a:lnSpc>
              <a:spcBef>
                <a:spcPts val="600"/>
              </a:spcBef>
              <a:spcAft>
                <a:spcPts val="0"/>
              </a:spcAft>
              <a:buClr>
                <a:schemeClr val="dk1"/>
              </a:buClr>
              <a:buSzPct val="100000"/>
              <a:buChar char="●"/>
            </a:pPr>
            <a:r>
              <a:rPr lang="fr" sz="1100">
                <a:solidFill>
                  <a:srgbClr val="2D3748"/>
                </a:solidFill>
                <a:latin typeface="Inter"/>
                <a:ea typeface="Inter"/>
                <a:cs typeface="Inter"/>
                <a:sym typeface="Inter"/>
              </a:rPr>
              <a:t>Capacité physique minimale exigée.</a:t>
            </a:r>
            <a:endParaRPr sz="1100">
              <a:solidFill>
                <a:srgbClr val="2D3748"/>
              </a:solidFill>
              <a:latin typeface="Inter"/>
              <a:ea typeface="Inter"/>
              <a:cs typeface="Inter"/>
              <a:sym typeface="Inter"/>
            </a:endParaRPr>
          </a:p>
          <a:p>
            <a:pPr indent="-287973" lvl="0" marL="457200" rtl="0" algn="l">
              <a:lnSpc>
                <a:spcPct val="130000"/>
              </a:lnSpc>
              <a:spcBef>
                <a:spcPts val="0"/>
              </a:spcBef>
              <a:spcAft>
                <a:spcPts val="0"/>
              </a:spcAft>
              <a:buClr>
                <a:schemeClr val="dk1"/>
              </a:buClr>
              <a:buSzPct val="100000"/>
              <a:buChar char="●"/>
            </a:pPr>
            <a:r>
              <a:rPr lang="fr" sz="1100">
                <a:solidFill>
                  <a:srgbClr val="2D3748"/>
                </a:solidFill>
                <a:latin typeface="Inter"/>
                <a:ea typeface="Inter"/>
                <a:cs typeface="Inter"/>
                <a:sym typeface="Inter"/>
              </a:rPr>
              <a:t>Nom unique pour éviter toute confusion.</a:t>
            </a:r>
            <a:endParaRPr sz="1100">
              <a:solidFill>
                <a:srgbClr val="2D3748"/>
              </a:solidFill>
              <a:latin typeface="Inter"/>
              <a:ea typeface="Inter"/>
              <a:cs typeface="Inter"/>
              <a:sym typeface="Inter"/>
            </a:endParaRPr>
          </a:p>
          <a:p>
            <a:pPr indent="-287973" lvl="0" marL="457200" rtl="0" algn="l">
              <a:lnSpc>
                <a:spcPct val="130000"/>
              </a:lnSpc>
              <a:spcBef>
                <a:spcPts val="0"/>
              </a:spcBef>
              <a:spcAft>
                <a:spcPts val="0"/>
              </a:spcAft>
              <a:buClr>
                <a:schemeClr val="dk1"/>
              </a:buClr>
              <a:buSzPct val="100000"/>
              <a:buChar char="●"/>
            </a:pPr>
            <a:r>
              <a:rPr lang="fr" sz="1100">
                <a:solidFill>
                  <a:srgbClr val="2D3748"/>
                </a:solidFill>
                <a:latin typeface="Inter"/>
                <a:ea typeface="Inter"/>
                <a:cs typeface="Inter"/>
                <a:sym typeface="Inter"/>
              </a:rPr>
              <a:t>Champ </a:t>
            </a:r>
            <a:r>
              <a:rPr lang="fr" sz="1100">
                <a:solidFill>
                  <a:srgbClr val="188038"/>
                </a:solidFill>
                <a:latin typeface="Roboto Mono"/>
                <a:ea typeface="Roboto Mono"/>
                <a:cs typeface="Roboto Mono"/>
                <a:sym typeface="Roboto Mono"/>
              </a:rPr>
              <a:t>equipements</a:t>
            </a:r>
            <a:r>
              <a:rPr lang="fr" sz="1100">
                <a:solidFill>
                  <a:srgbClr val="2D3748"/>
                </a:solidFill>
                <a:latin typeface="Inter"/>
                <a:ea typeface="Inter"/>
                <a:cs typeface="Inter"/>
                <a:sym typeface="Inter"/>
              </a:rPr>
              <a:t> au format JSON pour une flexibilité matérielle (vidéoprojecteur, ordinateurs, etc.).</a:t>
            </a:r>
            <a:endParaRPr sz="1100">
              <a:solidFill>
                <a:srgbClr val="2D3748"/>
              </a:solidFill>
              <a:latin typeface="Inter"/>
              <a:ea typeface="Inter"/>
              <a:cs typeface="Inter"/>
              <a:sym typeface="Inter"/>
            </a:endParaRPr>
          </a:p>
          <a:p>
            <a:pPr indent="0" lvl="0" marL="0" rtl="0" algn="l">
              <a:lnSpc>
                <a:spcPct val="120000"/>
              </a:lnSpc>
              <a:spcBef>
                <a:spcPts val="2400"/>
              </a:spcBef>
              <a:spcAft>
                <a:spcPts val="0"/>
              </a:spcAft>
              <a:buClr>
                <a:schemeClr val="dk1"/>
              </a:buClr>
              <a:buSzPct val="68750"/>
              <a:buFont typeface="Arial"/>
              <a:buNone/>
            </a:pPr>
            <a:r>
              <a:rPr b="1" i="1" lang="fr" sz="1600">
                <a:solidFill>
                  <a:srgbClr val="2B6CB0"/>
                </a:solidFill>
                <a:latin typeface="Inter"/>
                <a:ea typeface="Inter"/>
                <a:cs typeface="Inter"/>
                <a:sym typeface="Inter"/>
              </a:rPr>
              <a:t>Table </a:t>
            </a:r>
            <a:r>
              <a:rPr b="1" i="1" lang="fr" sz="1600">
                <a:solidFill>
                  <a:srgbClr val="188038"/>
                </a:solidFill>
                <a:latin typeface="Roboto Mono"/>
                <a:ea typeface="Roboto Mono"/>
                <a:cs typeface="Roboto Mono"/>
                <a:sym typeface="Roboto Mono"/>
              </a:rPr>
              <a:t>Session</a:t>
            </a:r>
            <a:endParaRPr b="1" i="1" sz="1600">
              <a:solidFill>
                <a:srgbClr val="2B6CB0"/>
              </a:solidFill>
              <a:latin typeface="Inter"/>
              <a:ea typeface="Inter"/>
              <a:cs typeface="Inter"/>
              <a:sym typeface="Inter"/>
            </a:endParaRPr>
          </a:p>
          <a:p>
            <a:pPr indent="-287973" lvl="0" marL="457200" rtl="0" algn="l">
              <a:lnSpc>
                <a:spcPct val="130000"/>
              </a:lnSpc>
              <a:spcBef>
                <a:spcPts val="600"/>
              </a:spcBef>
              <a:spcAft>
                <a:spcPts val="0"/>
              </a:spcAft>
              <a:buClr>
                <a:schemeClr val="dk1"/>
              </a:buClr>
              <a:buSzPct val="100000"/>
              <a:buChar char="●"/>
            </a:pPr>
            <a:r>
              <a:rPr lang="fr" sz="1100">
                <a:solidFill>
                  <a:srgbClr val="2D3748"/>
                </a:solidFill>
                <a:latin typeface="Inter"/>
                <a:ea typeface="Inter"/>
                <a:cs typeface="Inter"/>
                <a:sym typeface="Inter"/>
              </a:rPr>
              <a:t>Intitulé de la formation, dates de début et de fin.</a:t>
            </a:r>
            <a:endParaRPr sz="1100">
              <a:solidFill>
                <a:srgbClr val="2D3748"/>
              </a:solidFill>
              <a:latin typeface="Inter"/>
              <a:ea typeface="Inter"/>
              <a:cs typeface="Inter"/>
              <a:sym typeface="Inter"/>
            </a:endParaRPr>
          </a:p>
          <a:p>
            <a:pPr indent="-287973" lvl="0" marL="457200" rtl="0" algn="l">
              <a:lnSpc>
                <a:spcPct val="130000"/>
              </a:lnSpc>
              <a:spcBef>
                <a:spcPts val="0"/>
              </a:spcBef>
              <a:spcAft>
                <a:spcPts val="0"/>
              </a:spcAft>
              <a:buClr>
                <a:schemeClr val="dk1"/>
              </a:buClr>
              <a:buSzPct val="100000"/>
              <a:buChar char="●"/>
            </a:pPr>
            <a:r>
              <a:rPr lang="fr" sz="1100">
                <a:solidFill>
                  <a:srgbClr val="2D3748"/>
                </a:solidFill>
                <a:latin typeface="Inter"/>
                <a:ea typeface="Inter"/>
                <a:cs typeface="Inter"/>
                <a:sym typeface="Inter"/>
              </a:rPr>
              <a:t>Capacité maximale de participants.</a:t>
            </a:r>
            <a:endParaRPr sz="1100">
              <a:solidFill>
                <a:srgbClr val="2D3748"/>
              </a:solidFill>
              <a:latin typeface="Inter"/>
              <a:ea typeface="Inter"/>
              <a:cs typeface="Inter"/>
              <a:sym typeface="Inter"/>
            </a:endParaRPr>
          </a:p>
          <a:p>
            <a:pPr indent="-287973" lvl="0" marL="457200" rtl="0" algn="l">
              <a:lnSpc>
                <a:spcPct val="130000"/>
              </a:lnSpc>
              <a:spcBef>
                <a:spcPts val="0"/>
              </a:spcBef>
              <a:spcAft>
                <a:spcPts val="0"/>
              </a:spcAft>
              <a:buClr>
                <a:schemeClr val="dk1"/>
              </a:buClr>
              <a:buSzPct val="100000"/>
              <a:buChar char="●"/>
            </a:pPr>
            <a:r>
              <a:rPr lang="fr" sz="1100">
                <a:solidFill>
                  <a:srgbClr val="2D3748"/>
                </a:solidFill>
                <a:latin typeface="Inter"/>
                <a:ea typeface="Inter"/>
                <a:cs typeface="Inter"/>
                <a:sym typeface="Inter"/>
              </a:rPr>
              <a:t>Statut dynamique (</a:t>
            </a:r>
            <a:r>
              <a:rPr lang="fr" sz="1100">
                <a:solidFill>
                  <a:srgbClr val="188038"/>
                </a:solidFill>
                <a:latin typeface="Roboto Mono"/>
                <a:ea typeface="Roboto Mono"/>
                <a:cs typeface="Roboto Mono"/>
                <a:sym typeface="Roboto Mono"/>
              </a:rPr>
              <a:t>OPEN</a:t>
            </a:r>
            <a:r>
              <a:rPr lang="fr" sz="1100">
                <a:solidFill>
                  <a:srgbClr val="2D3748"/>
                </a:solidFill>
                <a:latin typeface="Inter"/>
                <a:ea typeface="Inter"/>
                <a:cs typeface="Inter"/>
                <a:sym typeface="Inter"/>
              </a:rPr>
              <a:t>, </a:t>
            </a:r>
            <a:r>
              <a:rPr lang="fr" sz="1100">
                <a:solidFill>
                  <a:srgbClr val="188038"/>
                </a:solidFill>
                <a:latin typeface="Roboto Mono"/>
                <a:ea typeface="Roboto Mono"/>
                <a:cs typeface="Roboto Mono"/>
                <a:sym typeface="Roboto Mono"/>
              </a:rPr>
              <a:t>CLOSED</a:t>
            </a:r>
            <a:r>
              <a:rPr lang="fr" sz="1100">
                <a:solidFill>
                  <a:srgbClr val="2D3748"/>
                </a:solidFill>
                <a:latin typeface="Inter"/>
                <a:ea typeface="Inter"/>
                <a:cs typeface="Inter"/>
                <a:sym typeface="Inter"/>
              </a:rPr>
              <a:t>, </a:t>
            </a:r>
            <a:r>
              <a:rPr lang="fr" sz="1100">
                <a:solidFill>
                  <a:srgbClr val="188038"/>
                </a:solidFill>
                <a:latin typeface="Roboto Mono"/>
                <a:ea typeface="Roboto Mono"/>
                <a:cs typeface="Roboto Mono"/>
                <a:sym typeface="Roboto Mono"/>
              </a:rPr>
              <a:t>ARCHIVED</a:t>
            </a:r>
            <a:r>
              <a:rPr lang="fr" sz="1100">
                <a:solidFill>
                  <a:srgbClr val="2D3748"/>
                </a:solidFill>
                <a:latin typeface="Inter"/>
                <a:ea typeface="Inter"/>
                <a:cs typeface="Inter"/>
                <a:sym typeface="Inter"/>
              </a:rPr>
              <a:t>).</a:t>
            </a:r>
            <a:endParaRPr sz="1100">
              <a:solidFill>
                <a:srgbClr val="2D3748"/>
              </a:solidFill>
              <a:latin typeface="Inter"/>
              <a:ea typeface="Inter"/>
              <a:cs typeface="Inter"/>
              <a:sym typeface="Inter"/>
            </a:endParaRPr>
          </a:p>
          <a:p>
            <a:pPr indent="-287973" lvl="0" marL="457200" rtl="0" algn="l">
              <a:lnSpc>
                <a:spcPct val="130000"/>
              </a:lnSpc>
              <a:spcBef>
                <a:spcPts val="0"/>
              </a:spcBef>
              <a:spcAft>
                <a:spcPts val="0"/>
              </a:spcAft>
              <a:buClr>
                <a:schemeClr val="dk1"/>
              </a:buClr>
              <a:buSzPct val="100000"/>
              <a:buChar char="●"/>
            </a:pPr>
            <a:r>
              <a:rPr lang="fr" sz="1100">
                <a:solidFill>
                  <a:srgbClr val="2D3748"/>
                </a:solidFill>
                <a:latin typeface="Inter"/>
                <a:ea typeface="Inter"/>
                <a:cs typeface="Inter"/>
                <a:sym typeface="Inter"/>
              </a:rPr>
              <a:t>Clés étrangères reliant directement la session à une </a:t>
            </a:r>
            <a:r>
              <a:rPr b="1" lang="fr" sz="1100">
                <a:solidFill>
                  <a:srgbClr val="2D3748"/>
                </a:solidFill>
                <a:latin typeface="Inter"/>
                <a:ea typeface="Inter"/>
                <a:cs typeface="Inter"/>
                <a:sym typeface="Inter"/>
              </a:rPr>
              <a:t>Salle</a:t>
            </a:r>
            <a:r>
              <a:rPr lang="fr" sz="1100">
                <a:solidFill>
                  <a:srgbClr val="2D3748"/>
                </a:solidFill>
                <a:latin typeface="Inter"/>
                <a:ea typeface="Inter"/>
                <a:cs typeface="Inter"/>
                <a:sym typeface="Inter"/>
              </a:rPr>
              <a:t> et un </a:t>
            </a:r>
            <a:r>
              <a:rPr b="1" lang="fr" sz="1100">
                <a:solidFill>
                  <a:srgbClr val="2D3748"/>
                </a:solidFill>
                <a:latin typeface="Inter"/>
                <a:ea typeface="Inter"/>
                <a:cs typeface="Inter"/>
                <a:sym typeface="Inter"/>
              </a:rPr>
              <a:t>Formateur</a:t>
            </a:r>
            <a:r>
              <a:rPr lang="fr" sz="1100">
                <a:solidFill>
                  <a:srgbClr val="2D3748"/>
                </a:solidFill>
                <a:latin typeface="Inter"/>
                <a:ea typeface="Inter"/>
                <a:cs typeface="Inter"/>
                <a:sym typeface="Inter"/>
              </a:rPr>
              <a:t>.</a:t>
            </a:r>
            <a:endParaRPr sz="1100">
              <a:solidFill>
                <a:srgbClr val="2D3748"/>
              </a:solidFill>
              <a:latin typeface="Inter"/>
              <a:ea typeface="Inter"/>
              <a:cs typeface="Inter"/>
              <a:sym typeface="Inter"/>
            </a:endParaRPr>
          </a:p>
          <a:p>
            <a:pPr indent="0" lvl="0" marL="0" rtl="0" algn="l">
              <a:lnSpc>
                <a:spcPct val="120000"/>
              </a:lnSpc>
              <a:spcBef>
                <a:spcPts val="2400"/>
              </a:spcBef>
              <a:spcAft>
                <a:spcPts val="0"/>
              </a:spcAft>
              <a:buClr>
                <a:schemeClr val="dk1"/>
              </a:buClr>
              <a:buSzPct val="68750"/>
              <a:buFont typeface="Arial"/>
              <a:buNone/>
            </a:pPr>
            <a:r>
              <a:rPr b="1" i="1" lang="fr" sz="1600">
                <a:solidFill>
                  <a:srgbClr val="2B6CB0"/>
                </a:solidFill>
                <a:latin typeface="Inter"/>
                <a:ea typeface="Inter"/>
                <a:cs typeface="Inter"/>
                <a:sym typeface="Inter"/>
              </a:rPr>
              <a:t>Table </a:t>
            </a:r>
            <a:r>
              <a:rPr b="1" i="1" lang="fr" sz="1600">
                <a:solidFill>
                  <a:srgbClr val="188038"/>
                </a:solidFill>
                <a:latin typeface="Roboto Mono"/>
                <a:ea typeface="Roboto Mono"/>
                <a:cs typeface="Roboto Mono"/>
                <a:sym typeface="Roboto Mono"/>
              </a:rPr>
              <a:t>Inscription</a:t>
            </a:r>
            <a:endParaRPr b="1" i="1" sz="1600">
              <a:solidFill>
                <a:srgbClr val="2B6CB0"/>
              </a:solidFill>
              <a:latin typeface="Inter"/>
              <a:ea typeface="Inter"/>
              <a:cs typeface="Inter"/>
              <a:sym typeface="Inter"/>
            </a:endParaRPr>
          </a:p>
          <a:p>
            <a:pPr indent="-287973" lvl="0" marL="457200" rtl="0" algn="l">
              <a:lnSpc>
                <a:spcPct val="130000"/>
              </a:lnSpc>
              <a:spcBef>
                <a:spcPts val="600"/>
              </a:spcBef>
              <a:spcAft>
                <a:spcPts val="0"/>
              </a:spcAft>
              <a:buClr>
                <a:schemeClr val="dk1"/>
              </a:buClr>
              <a:buSzPct val="100000"/>
              <a:buChar char="●"/>
            </a:pPr>
            <a:r>
              <a:rPr lang="fr" sz="1100">
                <a:solidFill>
                  <a:srgbClr val="2D3748"/>
                </a:solidFill>
                <a:latin typeface="Inter"/>
                <a:ea typeface="Inter"/>
                <a:cs typeface="Inter"/>
                <a:sym typeface="Inter"/>
              </a:rPr>
              <a:t>Table d'association liant un </a:t>
            </a:r>
            <a:r>
              <a:rPr b="1" lang="fr" sz="1100">
                <a:solidFill>
                  <a:srgbClr val="2D3748"/>
                </a:solidFill>
                <a:latin typeface="Inter"/>
                <a:ea typeface="Inter"/>
                <a:cs typeface="Inter"/>
                <a:sym typeface="Inter"/>
              </a:rPr>
              <a:t>Apprenant</a:t>
            </a:r>
            <a:r>
              <a:rPr lang="fr" sz="1100">
                <a:solidFill>
                  <a:srgbClr val="2D3748"/>
                </a:solidFill>
                <a:latin typeface="Inter"/>
                <a:ea typeface="Inter"/>
                <a:cs typeface="Inter"/>
                <a:sym typeface="Inter"/>
              </a:rPr>
              <a:t> à une </a:t>
            </a:r>
            <a:r>
              <a:rPr b="1" lang="fr" sz="1100">
                <a:solidFill>
                  <a:srgbClr val="2D3748"/>
                </a:solidFill>
                <a:latin typeface="Inter"/>
                <a:ea typeface="Inter"/>
                <a:cs typeface="Inter"/>
                <a:sym typeface="Inter"/>
              </a:rPr>
              <a:t>Session</a:t>
            </a:r>
            <a:r>
              <a:rPr lang="fr" sz="1100">
                <a:solidFill>
                  <a:srgbClr val="2D3748"/>
                </a:solidFill>
                <a:latin typeface="Inter"/>
                <a:ea typeface="Inter"/>
                <a:cs typeface="Inter"/>
                <a:sym typeface="Inter"/>
              </a:rPr>
              <a:t>.</a:t>
            </a:r>
            <a:endParaRPr sz="1100">
              <a:solidFill>
                <a:srgbClr val="2D3748"/>
              </a:solidFill>
              <a:latin typeface="Inter"/>
              <a:ea typeface="Inter"/>
              <a:cs typeface="Inter"/>
              <a:sym typeface="Inter"/>
            </a:endParaRPr>
          </a:p>
          <a:p>
            <a:pPr indent="-287973" lvl="0" marL="457200" rtl="0" algn="l">
              <a:lnSpc>
                <a:spcPct val="130000"/>
              </a:lnSpc>
              <a:spcBef>
                <a:spcPts val="0"/>
              </a:spcBef>
              <a:spcAft>
                <a:spcPts val="0"/>
              </a:spcAft>
              <a:buClr>
                <a:schemeClr val="dk1"/>
              </a:buClr>
              <a:buSzPct val="100000"/>
              <a:buChar char="●"/>
            </a:pPr>
            <a:r>
              <a:rPr lang="fr" sz="1100">
                <a:solidFill>
                  <a:srgbClr val="2D3748"/>
                </a:solidFill>
                <a:latin typeface="Inter"/>
                <a:ea typeface="Inter"/>
                <a:cs typeface="Inter"/>
                <a:sym typeface="Inter"/>
              </a:rPr>
              <a:t>Contrainte d'unicité (un apprenant ne peut pas s'inscrire deux fois à la même session).</a:t>
            </a:r>
            <a:endParaRPr sz="1100">
              <a:solidFill>
                <a:srgbClr val="2D3748"/>
              </a:solidFill>
              <a:latin typeface="Inter"/>
              <a:ea typeface="Inter"/>
              <a:cs typeface="Inter"/>
              <a:sym typeface="Inter"/>
            </a:endParaRPr>
          </a:p>
          <a:p>
            <a:pPr indent="-287973" lvl="0" marL="457200" rtl="0" algn="l">
              <a:lnSpc>
                <a:spcPct val="130000"/>
              </a:lnSpc>
              <a:spcBef>
                <a:spcPts val="0"/>
              </a:spcBef>
              <a:spcAft>
                <a:spcPts val="0"/>
              </a:spcAft>
              <a:buClr>
                <a:schemeClr val="dk1"/>
              </a:buClr>
              <a:buSzPct val="100000"/>
              <a:buChar char="●"/>
            </a:pPr>
            <a:r>
              <a:rPr lang="fr" sz="1100">
                <a:solidFill>
                  <a:srgbClr val="2D3748"/>
                </a:solidFill>
                <a:latin typeface="Inter"/>
                <a:ea typeface="Inter"/>
                <a:cs typeface="Inter"/>
                <a:sym typeface="Inter"/>
              </a:rPr>
              <a:t>Suivi de présence et historique des inscriptions.</a:t>
            </a:r>
            <a:endParaRPr/>
          </a:p>
        </p:txBody>
      </p:sp>
      <p:pic>
        <p:nvPicPr>
          <p:cNvPr descr="Cloud technology, concept banner. Woman user uploading and downloading information from remote server. Data center with servers. Safe storage of information. (fourni par Getty Images)" id="117" name="Google Shape;117;p20"/>
          <p:cNvPicPr preferRelativeResize="0"/>
          <p:nvPr/>
        </p:nvPicPr>
        <p:blipFill>
          <a:blip r:embed="rId3">
            <a:alphaModFix/>
          </a:blip>
          <a:stretch>
            <a:fillRect/>
          </a:stretch>
        </p:blipFill>
        <p:spPr>
          <a:xfrm>
            <a:off x="6876400" y="267950"/>
            <a:ext cx="2113900" cy="28836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1" name="Shape 121"/>
        <p:cNvGrpSpPr/>
        <p:nvPr/>
      </p:nvGrpSpPr>
      <p:grpSpPr>
        <a:xfrm>
          <a:off x="0" y="0"/>
          <a:ext cx="0" cy="0"/>
          <a:chOff x="0" y="0"/>
          <a:chExt cx="0" cy="0"/>
        </a:xfrm>
      </p:grpSpPr>
      <p:sp>
        <p:nvSpPr>
          <p:cNvPr id="122" name="Google Shape;122;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lnSpc>
                <a:spcPct val="110000"/>
              </a:lnSpc>
              <a:spcBef>
                <a:spcPts val="2400"/>
              </a:spcBef>
              <a:spcAft>
                <a:spcPts val="0"/>
              </a:spcAft>
              <a:buClr>
                <a:schemeClr val="dk1"/>
              </a:buClr>
              <a:buSzPct val="45833"/>
              <a:buFont typeface="Arial"/>
              <a:buNone/>
            </a:pPr>
            <a:r>
              <a:rPr b="1" lang="fr" sz="2400" u="sng">
                <a:solidFill>
                  <a:srgbClr val="1A365D"/>
                </a:solidFill>
                <a:latin typeface="Inter"/>
                <a:ea typeface="Inter"/>
                <a:cs typeface="Inter"/>
                <a:sym typeface="Inter"/>
              </a:rPr>
              <a:t>5. Règles Métier &amp; Sécurité (</a:t>
            </a:r>
            <a:r>
              <a:rPr b="1" lang="fr" sz="2400" u="sng">
                <a:solidFill>
                  <a:srgbClr val="188038"/>
                </a:solidFill>
                <a:latin typeface="Roboto Mono"/>
                <a:ea typeface="Roboto Mono"/>
                <a:cs typeface="Roboto Mono"/>
                <a:sym typeface="Roboto Mono"/>
              </a:rPr>
              <a:t>validators.py</a:t>
            </a:r>
            <a:r>
              <a:rPr b="1" lang="fr" sz="2400" u="sng">
                <a:solidFill>
                  <a:srgbClr val="1A365D"/>
                </a:solidFill>
                <a:latin typeface="Inter"/>
                <a:ea typeface="Inter"/>
                <a:cs typeface="Inter"/>
                <a:sym typeface="Inter"/>
              </a:rPr>
              <a:t>)</a:t>
            </a:r>
            <a:endParaRPr b="1" sz="2400" u="sng">
              <a:solidFill>
                <a:srgbClr val="1A365D"/>
              </a:solidFill>
              <a:latin typeface="Inter"/>
              <a:ea typeface="Inter"/>
              <a:cs typeface="Inter"/>
              <a:sym typeface="Inter"/>
            </a:endParaRPr>
          </a:p>
          <a:p>
            <a:pPr indent="0" lvl="0" marL="0" rtl="0" algn="l">
              <a:spcBef>
                <a:spcPts val="600"/>
              </a:spcBef>
              <a:spcAft>
                <a:spcPts val="0"/>
              </a:spcAft>
              <a:buNone/>
            </a:pPr>
            <a:r>
              <a:t/>
            </a:r>
            <a:endParaRPr/>
          </a:p>
        </p:txBody>
      </p:sp>
      <p:sp>
        <p:nvSpPr>
          <p:cNvPr id="123" name="Google Shape;123;p2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lnSpc>
                <a:spcPct val="120000"/>
              </a:lnSpc>
              <a:spcBef>
                <a:spcPts val="2400"/>
              </a:spcBef>
              <a:spcAft>
                <a:spcPts val="0"/>
              </a:spcAft>
              <a:buClr>
                <a:schemeClr val="dk1"/>
              </a:buClr>
              <a:buSzPts val="1100"/>
              <a:buFont typeface="Arial"/>
              <a:buNone/>
            </a:pPr>
            <a:r>
              <a:rPr b="1" i="1" lang="fr" sz="1600">
                <a:solidFill>
                  <a:srgbClr val="2B6CB0"/>
                </a:solidFill>
                <a:latin typeface="Inter"/>
                <a:ea typeface="Inter"/>
                <a:cs typeface="Inter"/>
                <a:sym typeface="Inter"/>
              </a:rPr>
              <a:t>Contrôle Anti-Chevauchement (</a:t>
            </a:r>
            <a:r>
              <a:rPr b="1" i="1" lang="fr" sz="1600">
                <a:solidFill>
                  <a:srgbClr val="188038"/>
                </a:solidFill>
                <a:latin typeface="Roboto Mono"/>
                <a:ea typeface="Roboto Mono"/>
                <a:cs typeface="Roboto Mono"/>
                <a:sym typeface="Roboto Mono"/>
              </a:rPr>
              <a:t>is_salle_disponible</a:t>
            </a:r>
            <a:r>
              <a:rPr b="1" i="1" lang="fr" sz="1600">
                <a:solidFill>
                  <a:srgbClr val="2B6CB0"/>
                </a:solidFill>
                <a:latin typeface="Inter"/>
                <a:ea typeface="Inter"/>
                <a:cs typeface="Inter"/>
                <a:sym typeface="Inter"/>
              </a:rPr>
              <a:t>)</a:t>
            </a:r>
            <a:endParaRPr b="1" i="1" sz="1600">
              <a:solidFill>
                <a:srgbClr val="2B6CB0"/>
              </a:solidFill>
              <a:latin typeface="Inter"/>
              <a:ea typeface="Inter"/>
              <a:cs typeface="Inter"/>
              <a:sym typeface="Inter"/>
            </a:endParaRPr>
          </a:p>
          <a:p>
            <a:pPr indent="-298450" lvl="0" marL="457200" rtl="0" algn="l">
              <a:lnSpc>
                <a:spcPct val="130000"/>
              </a:lnSpc>
              <a:spcBef>
                <a:spcPts val="600"/>
              </a:spcBef>
              <a:spcAft>
                <a:spcPts val="0"/>
              </a:spcAft>
              <a:buClr>
                <a:schemeClr val="dk1"/>
              </a:buClr>
              <a:buSzPts val="1100"/>
              <a:buChar char="●"/>
            </a:pPr>
            <a:r>
              <a:rPr lang="fr" sz="1100">
                <a:solidFill>
                  <a:srgbClr val="2D3748"/>
                </a:solidFill>
                <a:latin typeface="Inter"/>
                <a:ea typeface="Inter"/>
                <a:cs typeface="Inter"/>
                <a:sym typeface="Inter"/>
              </a:rPr>
              <a:t>Interdiction absolue de réserver une salle déjà occupée sur la même plage horaire.</a:t>
            </a:r>
            <a:endParaRPr sz="1100">
              <a:solidFill>
                <a:srgbClr val="2D3748"/>
              </a:solidFill>
              <a:latin typeface="Inter"/>
              <a:ea typeface="Inter"/>
              <a:cs typeface="Inter"/>
              <a:sym typeface="Inter"/>
            </a:endParaRPr>
          </a:p>
          <a:p>
            <a:pPr indent="-298450" lvl="0" marL="457200" rtl="0" algn="l">
              <a:lnSpc>
                <a:spcPct val="130000"/>
              </a:lnSpc>
              <a:spcBef>
                <a:spcPts val="0"/>
              </a:spcBef>
              <a:spcAft>
                <a:spcPts val="0"/>
              </a:spcAft>
              <a:buClr>
                <a:schemeClr val="dk1"/>
              </a:buClr>
              <a:buSzPts val="1100"/>
              <a:buChar char="●"/>
            </a:pPr>
            <a:r>
              <a:rPr lang="fr" sz="1100">
                <a:solidFill>
                  <a:srgbClr val="2D3748"/>
                </a:solidFill>
                <a:latin typeface="Inter"/>
                <a:ea typeface="Inter"/>
                <a:cs typeface="Inter"/>
                <a:sym typeface="Inter"/>
              </a:rPr>
              <a:t>Détection automatique pour empêcher un apprenant ou un formateur d'être positionné sur deux cours simultanés.</a:t>
            </a:r>
            <a:endParaRPr sz="1100">
              <a:solidFill>
                <a:srgbClr val="2D3748"/>
              </a:solidFill>
              <a:latin typeface="Inter"/>
              <a:ea typeface="Inter"/>
              <a:cs typeface="Inter"/>
              <a:sym typeface="Inter"/>
            </a:endParaRPr>
          </a:p>
          <a:p>
            <a:pPr indent="0" lvl="0" marL="0" rtl="0" algn="l">
              <a:lnSpc>
                <a:spcPct val="120000"/>
              </a:lnSpc>
              <a:spcBef>
                <a:spcPts val="2400"/>
              </a:spcBef>
              <a:spcAft>
                <a:spcPts val="0"/>
              </a:spcAft>
              <a:buClr>
                <a:schemeClr val="dk1"/>
              </a:buClr>
              <a:buSzPts val="1100"/>
              <a:buFont typeface="Arial"/>
              <a:buNone/>
            </a:pPr>
            <a:r>
              <a:rPr b="1" i="1" lang="fr" sz="1600">
                <a:solidFill>
                  <a:srgbClr val="2B6CB0"/>
                </a:solidFill>
                <a:latin typeface="Inter"/>
                <a:ea typeface="Inter"/>
                <a:cs typeface="Inter"/>
                <a:sym typeface="Inter"/>
              </a:rPr>
              <a:t>Respect des Capacités</a:t>
            </a:r>
            <a:endParaRPr b="1" i="1" sz="1600">
              <a:solidFill>
                <a:srgbClr val="2B6CB0"/>
              </a:solidFill>
              <a:latin typeface="Inter"/>
              <a:ea typeface="Inter"/>
              <a:cs typeface="Inter"/>
              <a:sym typeface="Inter"/>
            </a:endParaRPr>
          </a:p>
          <a:p>
            <a:pPr indent="-298450" lvl="0" marL="457200" rtl="0" algn="l">
              <a:lnSpc>
                <a:spcPct val="130000"/>
              </a:lnSpc>
              <a:spcBef>
                <a:spcPts val="600"/>
              </a:spcBef>
              <a:spcAft>
                <a:spcPts val="0"/>
              </a:spcAft>
              <a:buClr>
                <a:schemeClr val="dk1"/>
              </a:buClr>
              <a:buSzPts val="1100"/>
              <a:buChar char="●"/>
            </a:pPr>
            <a:r>
              <a:rPr lang="fr" sz="1100">
                <a:solidFill>
                  <a:srgbClr val="2D3748"/>
                </a:solidFill>
                <a:latin typeface="Inter"/>
                <a:ea typeface="Inter"/>
                <a:cs typeface="Inter"/>
                <a:sym typeface="Inter"/>
              </a:rPr>
              <a:t>Blocage automatique si la capacité maximale de la session dépasse la capacité physique de la salle.</a:t>
            </a:r>
            <a:endParaRPr sz="1100">
              <a:solidFill>
                <a:srgbClr val="2D3748"/>
              </a:solidFill>
              <a:latin typeface="Inter"/>
              <a:ea typeface="Inter"/>
              <a:cs typeface="Inter"/>
              <a:sym typeface="Inter"/>
            </a:endParaRPr>
          </a:p>
          <a:p>
            <a:pPr indent="-298450" lvl="0" marL="457200" rtl="0" algn="l">
              <a:lnSpc>
                <a:spcPct val="130000"/>
              </a:lnSpc>
              <a:spcBef>
                <a:spcPts val="0"/>
              </a:spcBef>
              <a:spcAft>
                <a:spcPts val="0"/>
              </a:spcAft>
              <a:buClr>
                <a:schemeClr val="dk1"/>
              </a:buClr>
              <a:buSzPts val="1100"/>
              <a:buChar char="●"/>
            </a:pPr>
            <a:r>
              <a:rPr lang="fr" sz="1100">
                <a:solidFill>
                  <a:srgbClr val="2D3748"/>
                </a:solidFill>
                <a:latin typeface="Inter"/>
                <a:ea typeface="Inter"/>
                <a:cs typeface="Inter"/>
                <a:sym typeface="Inter"/>
              </a:rPr>
              <a:t>Refus d'inscription dès que le quota de la session est atteint.</a:t>
            </a:r>
            <a:endParaRPr sz="1100">
              <a:solidFill>
                <a:srgbClr val="2D3748"/>
              </a:solidFill>
              <a:latin typeface="Inter"/>
              <a:ea typeface="Inter"/>
              <a:cs typeface="Inter"/>
              <a:sym typeface="Inter"/>
            </a:endParaRPr>
          </a:p>
          <a:p>
            <a:pPr indent="0" lvl="0" marL="0" rtl="0" algn="l">
              <a:lnSpc>
                <a:spcPct val="120000"/>
              </a:lnSpc>
              <a:spcBef>
                <a:spcPts val="2400"/>
              </a:spcBef>
              <a:spcAft>
                <a:spcPts val="0"/>
              </a:spcAft>
              <a:buClr>
                <a:schemeClr val="dk1"/>
              </a:buClr>
              <a:buSzPts val="1100"/>
              <a:buFont typeface="Arial"/>
              <a:buNone/>
            </a:pPr>
            <a:r>
              <a:rPr b="1" i="1" lang="fr" sz="1600">
                <a:solidFill>
                  <a:srgbClr val="2B6CB0"/>
                </a:solidFill>
                <a:latin typeface="Inter"/>
                <a:ea typeface="Inter"/>
                <a:cs typeface="Inter"/>
                <a:sym typeface="Inter"/>
              </a:rPr>
              <a:t>Validation de l'Âge</a:t>
            </a:r>
            <a:endParaRPr b="1" i="1" sz="1600">
              <a:solidFill>
                <a:srgbClr val="2B6CB0"/>
              </a:solidFill>
              <a:latin typeface="Inter"/>
              <a:ea typeface="Inter"/>
              <a:cs typeface="Inter"/>
              <a:sym typeface="Inter"/>
            </a:endParaRPr>
          </a:p>
          <a:p>
            <a:pPr indent="-298450" lvl="0" marL="457200" rtl="0" algn="l">
              <a:lnSpc>
                <a:spcPct val="130000"/>
              </a:lnSpc>
              <a:spcBef>
                <a:spcPts val="600"/>
              </a:spcBef>
              <a:spcAft>
                <a:spcPts val="0"/>
              </a:spcAft>
              <a:buClr>
                <a:schemeClr val="dk1"/>
              </a:buClr>
              <a:buSzPts val="1100"/>
              <a:buChar char="●"/>
            </a:pPr>
            <a:r>
              <a:rPr lang="fr" sz="1100">
                <a:solidFill>
                  <a:srgbClr val="2D3748"/>
                </a:solidFill>
                <a:latin typeface="Inter"/>
                <a:ea typeface="Inter"/>
                <a:cs typeface="Inter"/>
                <a:sym typeface="Inter"/>
              </a:rPr>
              <a:t>Calcul automatique de l'âge de l'apprenant à la création de son profil.</a:t>
            </a:r>
            <a:endParaRPr sz="1100">
              <a:solidFill>
                <a:srgbClr val="2D3748"/>
              </a:solidFill>
              <a:latin typeface="Inter"/>
              <a:ea typeface="Inter"/>
              <a:cs typeface="Inter"/>
              <a:sym typeface="Inter"/>
            </a:endParaRPr>
          </a:p>
          <a:p>
            <a:pPr indent="-298450" lvl="0" marL="457200" rtl="0" algn="l">
              <a:lnSpc>
                <a:spcPct val="130000"/>
              </a:lnSpc>
              <a:spcBef>
                <a:spcPts val="0"/>
              </a:spcBef>
              <a:spcAft>
                <a:spcPts val="0"/>
              </a:spcAft>
              <a:buClr>
                <a:schemeClr val="dk1"/>
              </a:buClr>
              <a:buSzPts val="1100"/>
              <a:buChar char="●"/>
            </a:pPr>
            <a:r>
              <a:rPr lang="fr" sz="1100">
                <a:solidFill>
                  <a:srgbClr val="2D3748"/>
                </a:solidFill>
                <a:latin typeface="Inter"/>
                <a:ea typeface="Inter"/>
                <a:cs typeface="Inter"/>
                <a:sym typeface="Inter"/>
              </a:rPr>
              <a:t>Rejet immédiat si l'âge est inférieur à 16 ans.</a:t>
            </a:r>
            <a:endParaRPr sz="1100">
              <a:solidFill>
                <a:srgbClr val="2D3748"/>
              </a:solidFill>
              <a:latin typeface="Inter"/>
              <a:ea typeface="Inter"/>
              <a:cs typeface="Inter"/>
              <a:sym typeface="Inter"/>
            </a:endParaRPr>
          </a:p>
          <a:p>
            <a:pPr indent="0" lvl="0" marL="0" rtl="0" algn="l">
              <a:spcBef>
                <a:spcPts val="0"/>
              </a:spcBef>
              <a:spcAft>
                <a:spcPts val="1200"/>
              </a:spcAft>
              <a:buNone/>
            </a:pPr>
            <a:r>
              <a:t/>
            </a:r>
            <a:endParaRPr/>
          </a:p>
        </p:txBody>
      </p:sp>
      <p:pic>
        <p:nvPicPr>
          <p:cNvPr descr="Sql Database Collection Elements Icons Set Vector (fourni par Getty Images)" id="124" name="Google Shape;124;p21"/>
          <p:cNvPicPr preferRelativeResize="0"/>
          <p:nvPr/>
        </p:nvPicPr>
        <p:blipFill>
          <a:blip r:embed="rId3">
            <a:alphaModFix/>
          </a:blip>
          <a:stretch>
            <a:fillRect/>
          </a:stretch>
        </p:blipFill>
        <p:spPr>
          <a:xfrm>
            <a:off x="7015624" y="2985575"/>
            <a:ext cx="1950976" cy="1724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28" name="Shape 128"/>
        <p:cNvGrpSpPr/>
        <p:nvPr/>
      </p:nvGrpSpPr>
      <p:grpSpPr>
        <a:xfrm>
          <a:off x="0" y="0"/>
          <a:ext cx="0" cy="0"/>
          <a:chOff x="0" y="0"/>
          <a:chExt cx="0" cy="0"/>
        </a:xfrm>
      </p:grpSpPr>
      <p:sp>
        <p:nvSpPr>
          <p:cNvPr id="129" name="Google Shape;129;p22"/>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lnSpc>
                <a:spcPct val="110000"/>
              </a:lnSpc>
              <a:spcBef>
                <a:spcPts val="2400"/>
              </a:spcBef>
              <a:spcAft>
                <a:spcPts val="600"/>
              </a:spcAft>
              <a:buClr>
                <a:schemeClr val="dk1"/>
              </a:buClr>
              <a:buSzPts val="1100"/>
              <a:buFont typeface="Arial"/>
              <a:buNone/>
            </a:pPr>
            <a:r>
              <a:rPr b="1" lang="fr" sz="2400" u="sng">
                <a:solidFill>
                  <a:srgbClr val="1A365D"/>
                </a:solidFill>
                <a:latin typeface="Inter"/>
                <a:ea typeface="Inter"/>
                <a:cs typeface="Inter"/>
                <a:sym typeface="Inter"/>
              </a:rPr>
              <a:t>6. Évolution du Schéma (Migrations Alembic)</a:t>
            </a:r>
            <a:endParaRPr u="sng"/>
          </a:p>
        </p:txBody>
      </p:sp>
      <p:sp>
        <p:nvSpPr>
          <p:cNvPr id="130" name="Google Shape;130;p2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11150" lvl="0" marL="457200" rtl="0" algn="l">
              <a:lnSpc>
                <a:spcPct val="130000"/>
              </a:lnSpc>
              <a:spcBef>
                <a:spcPts val="0"/>
              </a:spcBef>
              <a:spcAft>
                <a:spcPts val="0"/>
              </a:spcAft>
              <a:buClr>
                <a:schemeClr val="dk1"/>
              </a:buClr>
              <a:buSzPts val="1300"/>
              <a:buAutoNum type="arabicPeriod"/>
            </a:pPr>
            <a:r>
              <a:rPr b="1" lang="fr" sz="1300">
                <a:solidFill>
                  <a:srgbClr val="2D3748"/>
                </a:solidFill>
                <a:latin typeface="Inter"/>
                <a:ea typeface="Inter"/>
                <a:cs typeface="Inter"/>
                <a:sym typeface="Inter"/>
              </a:rPr>
              <a:t>Migration v1 :</a:t>
            </a:r>
            <a:r>
              <a:rPr lang="fr" sz="1300">
                <a:solidFill>
                  <a:srgbClr val="2D3748"/>
                </a:solidFill>
                <a:latin typeface="Inter"/>
                <a:ea typeface="Inter"/>
                <a:cs typeface="Inter"/>
                <a:sym typeface="Inter"/>
              </a:rPr>
              <a:t> Création initiale des 7 tables fondamentales du schéma relationnel.</a:t>
            </a:r>
            <a:endParaRPr sz="1300">
              <a:solidFill>
                <a:srgbClr val="2D3748"/>
              </a:solidFill>
              <a:latin typeface="Inter"/>
              <a:ea typeface="Inter"/>
              <a:cs typeface="Inter"/>
              <a:sym typeface="Inter"/>
            </a:endParaRPr>
          </a:p>
          <a:p>
            <a:pPr indent="0" lvl="0" marL="457200" rtl="0" algn="l">
              <a:lnSpc>
                <a:spcPct val="130000"/>
              </a:lnSpc>
              <a:spcBef>
                <a:spcPts val="0"/>
              </a:spcBef>
              <a:spcAft>
                <a:spcPts val="0"/>
              </a:spcAft>
              <a:buNone/>
            </a:pPr>
            <a:r>
              <a:t/>
            </a:r>
            <a:endParaRPr sz="1300">
              <a:solidFill>
                <a:srgbClr val="2D3748"/>
              </a:solidFill>
              <a:latin typeface="Inter"/>
              <a:ea typeface="Inter"/>
              <a:cs typeface="Inter"/>
              <a:sym typeface="Inter"/>
            </a:endParaRPr>
          </a:p>
          <a:p>
            <a:pPr indent="-311150" lvl="0" marL="457200" rtl="0" algn="l">
              <a:lnSpc>
                <a:spcPct val="130000"/>
              </a:lnSpc>
              <a:spcBef>
                <a:spcPts val="0"/>
              </a:spcBef>
              <a:spcAft>
                <a:spcPts val="0"/>
              </a:spcAft>
              <a:buClr>
                <a:schemeClr val="dk1"/>
              </a:buClr>
              <a:buSzPts val="1300"/>
              <a:buAutoNum type="arabicPeriod"/>
            </a:pPr>
            <a:r>
              <a:rPr b="1" lang="fr" sz="1300">
                <a:solidFill>
                  <a:srgbClr val="2D3748"/>
                </a:solidFill>
                <a:latin typeface="Inter"/>
                <a:ea typeface="Inter"/>
                <a:cs typeface="Inter"/>
                <a:sym typeface="Inter"/>
              </a:rPr>
              <a:t>Migration v2 :</a:t>
            </a:r>
            <a:r>
              <a:rPr lang="fr" sz="1300">
                <a:solidFill>
                  <a:srgbClr val="2D3748"/>
                </a:solidFill>
                <a:latin typeface="Inter"/>
                <a:ea typeface="Inter"/>
                <a:cs typeface="Inter"/>
                <a:sym typeface="Inter"/>
              </a:rPr>
              <a:t> Ajout du champ </a:t>
            </a:r>
            <a:r>
              <a:rPr lang="fr" sz="1300">
                <a:solidFill>
                  <a:srgbClr val="188038"/>
                </a:solidFill>
                <a:latin typeface="Roboto Mono"/>
                <a:ea typeface="Roboto Mono"/>
                <a:cs typeface="Roboto Mono"/>
                <a:sym typeface="Roboto Mono"/>
              </a:rPr>
              <a:t>statut</a:t>
            </a:r>
            <a:r>
              <a:rPr lang="fr" sz="1300">
                <a:solidFill>
                  <a:srgbClr val="2D3748"/>
                </a:solidFill>
                <a:latin typeface="Inter"/>
                <a:ea typeface="Inter"/>
                <a:cs typeface="Inter"/>
                <a:sym typeface="Inter"/>
              </a:rPr>
              <a:t> sur les sessions pour contrôler le flux d'inscription.</a:t>
            </a:r>
            <a:endParaRPr sz="1300">
              <a:solidFill>
                <a:srgbClr val="2D3748"/>
              </a:solidFill>
              <a:latin typeface="Inter"/>
              <a:ea typeface="Inter"/>
              <a:cs typeface="Inter"/>
              <a:sym typeface="Inter"/>
            </a:endParaRPr>
          </a:p>
          <a:p>
            <a:pPr indent="0" lvl="0" marL="457200" rtl="0" algn="l">
              <a:lnSpc>
                <a:spcPct val="130000"/>
              </a:lnSpc>
              <a:spcBef>
                <a:spcPts val="0"/>
              </a:spcBef>
              <a:spcAft>
                <a:spcPts val="0"/>
              </a:spcAft>
              <a:buNone/>
            </a:pPr>
            <a:r>
              <a:t/>
            </a:r>
            <a:endParaRPr sz="1300">
              <a:solidFill>
                <a:srgbClr val="2D3748"/>
              </a:solidFill>
              <a:latin typeface="Inter"/>
              <a:ea typeface="Inter"/>
              <a:cs typeface="Inter"/>
              <a:sym typeface="Inter"/>
            </a:endParaRPr>
          </a:p>
          <a:p>
            <a:pPr indent="-311150" lvl="0" marL="457200" rtl="0" algn="l">
              <a:lnSpc>
                <a:spcPct val="130000"/>
              </a:lnSpc>
              <a:spcBef>
                <a:spcPts val="0"/>
              </a:spcBef>
              <a:spcAft>
                <a:spcPts val="0"/>
              </a:spcAft>
              <a:buClr>
                <a:schemeClr val="dk1"/>
              </a:buClr>
              <a:buSzPts val="1300"/>
              <a:buAutoNum type="arabicPeriod"/>
            </a:pPr>
            <a:r>
              <a:rPr b="1" lang="fr" sz="1300">
                <a:solidFill>
                  <a:srgbClr val="2D3748"/>
                </a:solidFill>
                <a:latin typeface="Inter"/>
                <a:ea typeface="Inter"/>
                <a:cs typeface="Inter"/>
                <a:sym typeface="Inter"/>
              </a:rPr>
              <a:t>Migration v3 :</a:t>
            </a:r>
            <a:r>
              <a:rPr lang="fr" sz="1300">
                <a:solidFill>
                  <a:srgbClr val="2D3748"/>
                </a:solidFill>
                <a:latin typeface="Inter"/>
                <a:ea typeface="Inter"/>
                <a:cs typeface="Inter"/>
                <a:sym typeface="Inter"/>
              </a:rPr>
              <a:t> Refonte de la table </a:t>
            </a:r>
            <a:r>
              <a:rPr lang="fr" sz="1300">
                <a:solidFill>
                  <a:srgbClr val="188038"/>
                </a:solidFill>
                <a:latin typeface="Roboto Mono"/>
                <a:ea typeface="Roboto Mono"/>
                <a:cs typeface="Roboto Mono"/>
                <a:sym typeface="Roboto Mono"/>
              </a:rPr>
              <a:t>Salle</a:t>
            </a:r>
            <a:r>
              <a:rPr lang="fr" sz="1300">
                <a:solidFill>
                  <a:srgbClr val="2D3748"/>
                </a:solidFill>
                <a:latin typeface="Inter"/>
                <a:ea typeface="Inter"/>
                <a:cs typeface="Inter"/>
                <a:sym typeface="Inter"/>
              </a:rPr>
              <a:t> pour intégrer la gestion des équipements sous forme de structure JSON.</a:t>
            </a:r>
            <a:endParaRPr sz="1300">
              <a:solidFill>
                <a:srgbClr val="2D3748"/>
              </a:solidFill>
              <a:latin typeface="Inter"/>
              <a:ea typeface="Inter"/>
              <a:cs typeface="Inter"/>
              <a:sym typeface="Inter"/>
            </a:endParaRPr>
          </a:p>
          <a:p>
            <a:pPr indent="0" lvl="0" marL="457200" rtl="0" algn="l">
              <a:lnSpc>
                <a:spcPct val="130000"/>
              </a:lnSpc>
              <a:spcBef>
                <a:spcPts val="0"/>
              </a:spcBef>
              <a:spcAft>
                <a:spcPts val="0"/>
              </a:spcAft>
              <a:buNone/>
            </a:pPr>
            <a:r>
              <a:t/>
            </a:r>
            <a:endParaRPr sz="1300">
              <a:solidFill>
                <a:srgbClr val="2D3748"/>
              </a:solidFill>
              <a:latin typeface="Inter"/>
              <a:ea typeface="Inter"/>
              <a:cs typeface="Inter"/>
              <a:sym typeface="Inter"/>
            </a:endParaRPr>
          </a:p>
          <a:p>
            <a:pPr indent="-311150" lvl="0" marL="457200" rtl="0" algn="l">
              <a:lnSpc>
                <a:spcPct val="130000"/>
              </a:lnSpc>
              <a:spcBef>
                <a:spcPts val="0"/>
              </a:spcBef>
              <a:spcAft>
                <a:spcPts val="0"/>
              </a:spcAft>
              <a:buClr>
                <a:schemeClr val="dk1"/>
              </a:buClr>
              <a:buSzPts val="1300"/>
              <a:buAutoNum type="arabicPeriod"/>
            </a:pPr>
            <a:r>
              <a:rPr b="1" lang="fr" sz="1300">
                <a:solidFill>
                  <a:srgbClr val="2D3748"/>
                </a:solidFill>
                <a:latin typeface="Inter"/>
                <a:ea typeface="Inter"/>
                <a:cs typeface="Inter"/>
                <a:sym typeface="Inter"/>
              </a:rPr>
              <a:t>Migration v4 :</a:t>
            </a:r>
            <a:r>
              <a:rPr lang="fr" sz="1300">
                <a:solidFill>
                  <a:srgbClr val="2D3748"/>
                </a:solidFill>
                <a:latin typeface="Inter"/>
                <a:ea typeface="Inter"/>
                <a:cs typeface="Inter"/>
                <a:sym typeface="Inter"/>
              </a:rPr>
              <a:t> Évolution des droits d'administration avec l'intégration du rôle </a:t>
            </a:r>
            <a:r>
              <a:rPr lang="fr" sz="1300">
                <a:solidFill>
                  <a:srgbClr val="188038"/>
                </a:solidFill>
                <a:latin typeface="Roboto Mono"/>
                <a:ea typeface="Roboto Mono"/>
                <a:cs typeface="Roboto Mono"/>
                <a:sym typeface="Roboto Mono"/>
              </a:rPr>
              <a:t>SUPERADMIN</a:t>
            </a:r>
            <a:r>
              <a:rPr lang="fr" sz="1300">
                <a:solidFill>
                  <a:srgbClr val="2D3748"/>
                </a:solidFill>
                <a:latin typeface="Inter"/>
                <a:ea typeface="Inter"/>
                <a:cs typeface="Inter"/>
                <a:sym typeface="Inter"/>
              </a:rPr>
              <a:t>.</a:t>
            </a:r>
            <a:endParaRPr sz="1300">
              <a:solidFill>
                <a:srgbClr val="2D3748"/>
              </a:solidFill>
              <a:latin typeface="Inter"/>
              <a:ea typeface="Inter"/>
              <a:cs typeface="Inter"/>
              <a:sym typeface="Inter"/>
            </a:endParaRPr>
          </a:p>
          <a:p>
            <a:pPr indent="0" lvl="0" marL="0" rtl="0" algn="l">
              <a:spcBef>
                <a:spcPts val="0"/>
              </a:spcBef>
              <a:spcAft>
                <a:spcPts val="1200"/>
              </a:spcAft>
              <a:buNone/>
            </a:pPr>
            <a:r>
              <a:t/>
            </a:r>
            <a:endParaRPr/>
          </a:p>
        </p:txBody>
      </p:sp>
      <p:pic>
        <p:nvPicPr>
          <p:cNvPr descr="Businessperson use a computer to document management, online documentation database, and digital file storage system software, records management, database technology, file access, and doc sharing. (fourni par Getty Images)" id="131" name="Google Shape;131;p22"/>
          <p:cNvPicPr preferRelativeResize="0"/>
          <p:nvPr/>
        </p:nvPicPr>
        <p:blipFill>
          <a:blip r:embed="rId3">
            <a:alphaModFix/>
          </a:blip>
          <a:stretch>
            <a:fillRect/>
          </a:stretch>
        </p:blipFill>
        <p:spPr>
          <a:xfrm>
            <a:off x="2837800" y="3557075"/>
            <a:ext cx="3093975" cy="13400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35" name="Shape 135"/>
        <p:cNvGrpSpPr/>
        <p:nvPr/>
      </p:nvGrpSpPr>
      <p:grpSpPr>
        <a:xfrm>
          <a:off x="0" y="0"/>
          <a:ext cx="0" cy="0"/>
          <a:chOff x="0" y="0"/>
          <a:chExt cx="0" cy="0"/>
        </a:xfrm>
      </p:grpSpPr>
      <p:sp>
        <p:nvSpPr>
          <p:cNvPr id="136" name="Google Shape;136;p2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lnSpc>
                <a:spcPct val="110000"/>
              </a:lnSpc>
              <a:spcBef>
                <a:spcPts val="2400"/>
              </a:spcBef>
              <a:spcAft>
                <a:spcPts val="0"/>
              </a:spcAft>
              <a:buClr>
                <a:schemeClr val="dk1"/>
              </a:buClr>
              <a:buSzPct val="45833"/>
              <a:buFont typeface="Arial"/>
              <a:buNone/>
            </a:pPr>
            <a:r>
              <a:rPr b="1" lang="fr" sz="2400" u="sng">
                <a:solidFill>
                  <a:srgbClr val="1A365D"/>
                </a:solidFill>
                <a:latin typeface="Inter"/>
                <a:ea typeface="Inter"/>
                <a:cs typeface="Inter"/>
                <a:sym typeface="Inter"/>
              </a:rPr>
              <a:t>7. Application Web &amp; Dashboard (Bonus Flask)</a:t>
            </a:r>
            <a:endParaRPr b="1" sz="2400" u="sng">
              <a:solidFill>
                <a:srgbClr val="1A365D"/>
              </a:solidFill>
              <a:latin typeface="Inter"/>
              <a:ea typeface="Inter"/>
              <a:cs typeface="Inter"/>
              <a:sym typeface="Inter"/>
            </a:endParaRPr>
          </a:p>
          <a:p>
            <a:pPr indent="0" lvl="0" marL="0" rtl="0" algn="l">
              <a:spcBef>
                <a:spcPts val="600"/>
              </a:spcBef>
              <a:spcAft>
                <a:spcPts val="0"/>
              </a:spcAft>
              <a:buNone/>
            </a:pPr>
            <a:r>
              <a:t/>
            </a:r>
            <a:endParaRPr/>
          </a:p>
        </p:txBody>
      </p:sp>
      <p:sp>
        <p:nvSpPr>
          <p:cNvPr id="137" name="Google Shape;137;p2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lnSpc>
                <a:spcPct val="120000"/>
              </a:lnSpc>
              <a:spcBef>
                <a:spcPts val="2400"/>
              </a:spcBef>
              <a:spcAft>
                <a:spcPts val="0"/>
              </a:spcAft>
              <a:buClr>
                <a:schemeClr val="dk1"/>
              </a:buClr>
              <a:buSzPts val="1100"/>
              <a:buFont typeface="Arial"/>
              <a:buNone/>
            </a:pPr>
            <a:r>
              <a:rPr b="1" i="1" lang="fr" sz="1600">
                <a:solidFill>
                  <a:srgbClr val="2B6CB0"/>
                </a:solidFill>
                <a:latin typeface="Inter"/>
                <a:ea typeface="Inter"/>
                <a:cs typeface="Inter"/>
                <a:sym typeface="Inter"/>
              </a:rPr>
              <a:t>Tableau de Bord (Dashboard)</a:t>
            </a:r>
            <a:endParaRPr b="1" i="1" sz="1600">
              <a:solidFill>
                <a:srgbClr val="2B6CB0"/>
              </a:solidFill>
              <a:latin typeface="Inter"/>
              <a:ea typeface="Inter"/>
              <a:cs typeface="Inter"/>
              <a:sym typeface="Inter"/>
            </a:endParaRPr>
          </a:p>
          <a:p>
            <a:pPr indent="-298450" lvl="0" marL="457200" rtl="0" algn="l">
              <a:lnSpc>
                <a:spcPct val="130000"/>
              </a:lnSpc>
              <a:spcBef>
                <a:spcPts val="600"/>
              </a:spcBef>
              <a:spcAft>
                <a:spcPts val="0"/>
              </a:spcAft>
              <a:buClr>
                <a:schemeClr val="dk1"/>
              </a:buClr>
              <a:buSzPts val="1100"/>
              <a:buChar char="●"/>
            </a:pPr>
            <a:r>
              <a:rPr lang="fr" sz="1100">
                <a:solidFill>
                  <a:srgbClr val="2D3748"/>
                </a:solidFill>
                <a:latin typeface="Inter"/>
                <a:ea typeface="Inter"/>
                <a:cs typeface="Inter"/>
                <a:sym typeface="Inter"/>
              </a:rPr>
              <a:t>Vue synthétique sur les indicateurs clés.</a:t>
            </a:r>
            <a:endParaRPr sz="1100">
              <a:solidFill>
                <a:srgbClr val="2D3748"/>
              </a:solidFill>
              <a:latin typeface="Inter"/>
              <a:ea typeface="Inter"/>
              <a:cs typeface="Inter"/>
              <a:sym typeface="Inter"/>
            </a:endParaRPr>
          </a:p>
          <a:p>
            <a:pPr indent="-298450" lvl="0" marL="457200" rtl="0" algn="l">
              <a:lnSpc>
                <a:spcPct val="130000"/>
              </a:lnSpc>
              <a:spcBef>
                <a:spcPts val="0"/>
              </a:spcBef>
              <a:spcAft>
                <a:spcPts val="0"/>
              </a:spcAft>
              <a:buClr>
                <a:schemeClr val="dk1"/>
              </a:buClr>
              <a:buSzPts val="1100"/>
              <a:buChar char="●"/>
            </a:pPr>
            <a:r>
              <a:rPr lang="fr" sz="1100">
                <a:solidFill>
                  <a:srgbClr val="2D3748"/>
                </a:solidFill>
                <a:latin typeface="Inter"/>
                <a:ea typeface="Inter"/>
                <a:cs typeface="Inter"/>
                <a:sym typeface="Inter"/>
              </a:rPr>
              <a:t>Suivi du nombre d'apprenants inscrits, du taux d'occupation des salles et du statut global des cours.</a:t>
            </a:r>
            <a:endParaRPr sz="1100">
              <a:solidFill>
                <a:srgbClr val="2D3748"/>
              </a:solidFill>
              <a:latin typeface="Inter"/>
              <a:ea typeface="Inter"/>
              <a:cs typeface="Inter"/>
              <a:sym typeface="Inter"/>
            </a:endParaRPr>
          </a:p>
          <a:p>
            <a:pPr indent="0" lvl="0" marL="0" rtl="0" algn="l">
              <a:lnSpc>
                <a:spcPct val="120000"/>
              </a:lnSpc>
              <a:spcBef>
                <a:spcPts val="2400"/>
              </a:spcBef>
              <a:spcAft>
                <a:spcPts val="0"/>
              </a:spcAft>
              <a:buClr>
                <a:schemeClr val="dk1"/>
              </a:buClr>
              <a:buSzPts val="1100"/>
              <a:buFont typeface="Arial"/>
              <a:buNone/>
            </a:pPr>
            <a:r>
              <a:rPr b="1" i="1" lang="fr" sz="1600">
                <a:solidFill>
                  <a:srgbClr val="2B6CB0"/>
                </a:solidFill>
                <a:latin typeface="Inter"/>
                <a:ea typeface="Inter"/>
                <a:cs typeface="Inter"/>
                <a:sym typeface="Inter"/>
              </a:rPr>
              <a:t>Gestion CRUD Intégrée</a:t>
            </a:r>
            <a:endParaRPr b="1" i="1" sz="1600">
              <a:solidFill>
                <a:srgbClr val="2B6CB0"/>
              </a:solidFill>
              <a:latin typeface="Inter"/>
              <a:ea typeface="Inter"/>
              <a:cs typeface="Inter"/>
              <a:sym typeface="Inter"/>
            </a:endParaRPr>
          </a:p>
          <a:p>
            <a:pPr indent="-298450" lvl="0" marL="457200" rtl="0" algn="l">
              <a:lnSpc>
                <a:spcPct val="130000"/>
              </a:lnSpc>
              <a:spcBef>
                <a:spcPts val="600"/>
              </a:spcBef>
              <a:spcAft>
                <a:spcPts val="0"/>
              </a:spcAft>
              <a:buClr>
                <a:schemeClr val="dk1"/>
              </a:buClr>
              <a:buSzPts val="1100"/>
              <a:buChar char="●"/>
            </a:pPr>
            <a:r>
              <a:rPr lang="fr" sz="1100">
                <a:solidFill>
                  <a:srgbClr val="2D3748"/>
                </a:solidFill>
                <a:latin typeface="Inter"/>
                <a:ea typeface="Inter"/>
                <a:cs typeface="Inter"/>
                <a:sym typeface="Inter"/>
              </a:rPr>
              <a:t>Formulaires interactifs pour l'administration des utilisateurs, des salles et des sessions.</a:t>
            </a:r>
            <a:endParaRPr sz="1100">
              <a:solidFill>
                <a:srgbClr val="2D3748"/>
              </a:solidFill>
              <a:latin typeface="Inter"/>
              <a:ea typeface="Inter"/>
              <a:cs typeface="Inter"/>
              <a:sym typeface="Inter"/>
            </a:endParaRPr>
          </a:p>
          <a:p>
            <a:pPr indent="-298450" lvl="0" marL="457200" rtl="0" algn="l">
              <a:lnSpc>
                <a:spcPct val="130000"/>
              </a:lnSpc>
              <a:spcBef>
                <a:spcPts val="0"/>
              </a:spcBef>
              <a:spcAft>
                <a:spcPts val="0"/>
              </a:spcAft>
              <a:buClr>
                <a:schemeClr val="dk1"/>
              </a:buClr>
              <a:buSzPts val="1100"/>
              <a:buChar char="●"/>
            </a:pPr>
            <a:r>
              <a:rPr lang="fr" sz="1100">
                <a:solidFill>
                  <a:srgbClr val="2D3748"/>
                </a:solidFill>
                <a:latin typeface="Inter"/>
                <a:ea typeface="Inter"/>
                <a:cs typeface="Inter"/>
                <a:sym typeface="Inter"/>
              </a:rPr>
              <a:t>Intégration de la validation Pydantic en temps réel avec remontée claire des erreurs lors de la soumission.</a:t>
            </a:r>
            <a:endParaRPr sz="1100">
              <a:solidFill>
                <a:srgbClr val="2D3748"/>
              </a:solidFill>
              <a:latin typeface="Inter"/>
              <a:ea typeface="Inter"/>
              <a:cs typeface="Inter"/>
              <a:sym typeface="Inter"/>
            </a:endParaRPr>
          </a:p>
          <a:p>
            <a:pPr indent="0" lvl="0" marL="0" rtl="0" algn="l">
              <a:lnSpc>
                <a:spcPct val="130000"/>
              </a:lnSpc>
              <a:spcBef>
                <a:spcPts val="0"/>
              </a:spcBef>
              <a:spcAft>
                <a:spcPts val="0"/>
              </a:spcAft>
              <a:buClr>
                <a:schemeClr val="dk1"/>
              </a:buClr>
              <a:buSzPts val="1100"/>
              <a:buFont typeface="Arial"/>
              <a:buNone/>
            </a:pPr>
            <a:r>
              <a:t/>
            </a:r>
            <a:endParaRPr sz="1100">
              <a:solidFill>
                <a:srgbClr val="2D3748"/>
              </a:solidFill>
              <a:latin typeface="Inter"/>
              <a:ea typeface="Inter"/>
              <a:cs typeface="Inter"/>
              <a:sym typeface="Inter"/>
            </a:endParaRPr>
          </a:p>
          <a:p>
            <a:pPr indent="0" lvl="0" marL="0" rtl="0" algn="l">
              <a:spcBef>
                <a:spcPts val="0"/>
              </a:spcBef>
              <a:spcAft>
                <a:spcPts val="1200"/>
              </a:spcAft>
              <a:buNone/>
            </a:pPr>
            <a:r>
              <a:t/>
            </a:r>
            <a:endParaRPr/>
          </a:p>
        </p:txBody>
      </p:sp>
      <p:pic>
        <p:nvPicPr>
          <p:cNvPr descr="Future artificial intelligence robot and cyborg. (fourni par Getty Images)" id="138" name="Google Shape;138;p23"/>
          <p:cNvPicPr preferRelativeResize="0"/>
          <p:nvPr/>
        </p:nvPicPr>
        <p:blipFill>
          <a:blip r:embed="rId3">
            <a:alphaModFix/>
          </a:blip>
          <a:stretch>
            <a:fillRect/>
          </a:stretch>
        </p:blipFill>
        <p:spPr>
          <a:xfrm>
            <a:off x="2916625" y="3330450"/>
            <a:ext cx="3054577" cy="16948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42" name="Shape 142"/>
        <p:cNvGrpSpPr/>
        <p:nvPr/>
      </p:nvGrpSpPr>
      <p:grpSpPr>
        <a:xfrm>
          <a:off x="0" y="0"/>
          <a:ext cx="0" cy="0"/>
          <a:chOff x="0" y="0"/>
          <a:chExt cx="0" cy="0"/>
        </a:xfrm>
      </p:grpSpPr>
      <p:sp>
        <p:nvSpPr>
          <p:cNvPr id="143" name="Google Shape;143;p2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lnSpc>
                <a:spcPct val="110000"/>
              </a:lnSpc>
              <a:spcBef>
                <a:spcPts val="2400"/>
              </a:spcBef>
              <a:spcAft>
                <a:spcPts val="0"/>
              </a:spcAft>
              <a:buClr>
                <a:schemeClr val="dk1"/>
              </a:buClr>
              <a:buSzPct val="45833"/>
              <a:buFont typeface="Arial"/>
              <a:buNone/>
            </a:pPr>
            <a:r>
              <a:rPr b="1" lang="fr" sz="2400" u="sng">
                <a:solidFill>
                  <a:srgbClr val="1A365D"/>
                </a:solidFill>
                <a:latin typeface="Inter"/>
                <a:ea typeface="Inter"/>
                <a:cs typeface="Inter"/>
                <a:sym typeface="Inter"/>
              </a:rPr>
              <a:t>8. Conclusion &amp; Démonstration</a:t>
            </a:r>
            <a:endParaRPr b="1" sz="2400" u="sng">
              <a:solidFill>
                <a:srgbClr val="1A365D"/>
              </a:solidFill>
              <a:latin typeface="Inter"/>
              <a:ea typeface="Inter"/>
              <a:cs typeface="Inter"/>
              <a:sym typeface="Inter"/>
            </a:endParaRPr>
          </a:p>
          <a:p>
            <a:pPr indent="0" lvl="0" marL="0" rtl="0" algn="l">
              <a:spcBef>
                <a:spcPts val="600"/>
              </a:spcBef>
              <a:spcAft>
                <a:spcPts val="0"/>
              </a:spcAft>
              <a:buNone/>
            </a:pPr>
            <a:r>
              <a:t/>
            </a:r>
            <a:endParaRPr/>
          </a:p>
        </p:txBody>
      </p:sp>
      <p:sp>
        <p:nvSpPr>
          <p:cNvPr id="144" name="Google Shape;144;p2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lnSpc>
                <a:spcPct val="120000"/>
              </a:lnSpc>
              <a:spcBef>
                <a:spcPts val="2400"/>
              </a:spcBef>
              <a:spcAft>
                <a:spcPts val="0"/>
              </a:spcAft>
              <a:buClr>
                <a:schemeClr val="dk1"/>
              </a:buClr>
              <a:buSzPts val="1100"/>
              <a:buFont typeface="Arial"/>
              <a:buNone/>
            </a:pPr>
            <a:r>
              <a:rPr b="1" i="1" lang="fr" sz="1600">
                <a:solidFill>
                  <a:srgbClr val="2B6CB0"/>
                </a:solidFill>
                <a:latin typeface="Inter"/>
                <a:ea typeface="Inter"/>
                <a:cs typeface="Inter"/>
                <a:sym typeface="Inter"/>
              </a:rPr>
              <a:t>Bilan du Projet</a:t>
            </a:r>
            <a:endParaRPr b="1" i="1" sz="1600">
              <a:solidFill>
                <a:srgbClr val="2B6CB0"/>
              </a:solidFill>
              <a:latin typeface="Inter"/>
              <a:ea typeface="Inter"/>
              <a:cs typeface="Inter"/>
              <a:sym typeface="Inter"/>
            </a:endParaRPr>
          </a:p>
          <a:p>
            <a:pPr indent="-298450" lvl="0" marL="457200" rtl="0" algn="l">
              <a:lnSpc>
                <a:spcPct val="130000"/>
              </a:lnSpc>
              <a:spcBef>
                <a:spcPts val="600"/>
              </a:spcBef>
              <a:spcAft>
                <a:spcPts val="0"/>
              </a:spcAft>
              <a:buClr>
                <a:schemeClr val="dk1"/>
              </a:buClr>
              <a:buSzPts val="1100"/>
              <a:buChar char="●"/>
            </a:pPr>
            <a:r>
              <a:rPr lang="fr" sz="1100">
                <a:solidFill>
                  <a:srgbClr val="2D3748"/>
                </a:solidFill>
                <a:latin typeface="Inter"/>
                <a:ea typeface="Inter"/>
                <a:cs typeface="Inter"/>
                <a:sym typeface="Inter"/>
              </a:rPr>
              <a:t>Base de données robuste, normalisée et protégée nativement contre les erreurs de saisie.</a:t>
            </a:r>
            <a:endParaRPr sz="1100">
              <a:solidFill>
                <a:srgbClr val="2D3748"/>
              </a:solidFill>
              <a:latin typeface="Inter"/>
              <a:ea typeface="Inter"/>
              <a:cs typeface="Inter"/>
              <a:sym typeface="Inter"/>
            </a:endParaRPr>
          </a:p>
          <a:p>
            <a:pPr indent="-298450" lvl="0" marL="457200" rtl="0" algn="l">
              <a:lnSpc>
                <a:spcPct val="130000"/>
              </a:lnSpc>
              <a:spcBef>
                <a:spcPts val="0"/>
              </a:spcBef>
              <a:spcAft>
                <a:spcPts val="0"/>
              </a:spcAft>
              <a:buClr>
                <a:schemeClr val="dk1"/>
              </a:buClr>
              <a:buSzPts val="1100"/>
              <a:buChar char="●"/>
            </a:pPr>
            <a:r>
              <a:rPr lang="fr" sz="1100">
                <a:solidFill>
                  <a:srgbClr val="2D3748"/>
                </a:solidFill>
                <a:latin typeface="Inter"/>
                <a:ea typeface="Inter"/>
                <a:cs typeface="Inter"/>
                <a:sym typeface="Inter"/>
              </a:rPr>
              <a:t>Historique de migration clair, garantissant la maintenabilité.</a:t>
            </a:r>
            <a:endParaRPr sz="1100">
              <a:solidFill>
                <a:srgbClr val="2D3748"/>
              </a:solidFill>
              <a:latin typeface="Inter"/>
              <a:ea typeface="Inter"/>
              <a:cs typeface="Inter"/>
              <a:sym typeface="Inter"/>
            </a:endParaRPr>
          </a:p>
          <a:p>
            <a:pPr indent="-298450" lvl="0" marL="457200" rtl="0" algn="l">
              <a:lnSpc>
                <a:spcPct val="130000"/>
              </a:lnSpc>
              <a:spcBef>
                <a:spcPts val="0"/>
              </a:spcBef>
              <a:spcAft>
                <a:spcPts val="0"/>
              </a:spcAft>
              <a:buClr>
                <a:schemeClr val="dk1"/>
              </a:buClr>
              <a:buSzPts val="1100"/>
              <a:buChar char="●"/>
            </a:pPr>
            <a:r>
              <a:rPr lang="fr" sz="1100">
                <a:solidFill>
                  <a:srgbClr val="2D3748"/>
                </a:solidFill>
                <a:latin typeface="Inter"/>
                <a:ea typeface="Inter"/>
                <a:cs typeface="Inter"/>
                <a:sym typeface="Inter"/>
              </a:rPr>
              <a:t>Application web opérationnelle et prête à l'emploi.</a:t>
            </a:r>
            <a:endParaRPr sz="1100">
              <a:solidFill>
                <a:srgbClr val="2D3748"/>
              </a:solidFill>
              <a:latin typeface="Inter"/>
              <a:ea typeface="Inter"/>
              <a:cs typeface="Inter"/>
              <a:sym typeface="Inter"/>
            </a:endParaRPr>
          </a:p>
          <a:p>
            <a:pPr indent="0" lvl="0" marL="0" rtl="0" algn="l">
              <a:lnSpc>
                <a:spcPct val="120000"/>
              </a:lnSpc>
              <a:spcBef>
                <a:spcPts val="2400"/>
              </a:spcBef>
              <a:spcAft>
                <a:spcPts val="0"/>
              </a:spcAft>
              <a:buClr>
                <a:schemeClr val="dk1"/>
              </a:buClr>
              <a:buSzPts val="1100"/>
              <a:buFont typeface="Arial"/>
              <a:buNone/>
            </a:pPr>
            <a:r>
              <a:rPr b="1" i="1" lang="fr" sz="1600">
                <a:solidFill>
                  <a:srgbClr val="2B6CB0"/>
                </a:solidFill>
                <a:latin typeface="Inter"/>
                <a:ea typeface="Inter"/>
                <a:cs typeface="Inter"/>
                <a:sym typeface="Inter"/>
              </a:rPr>
              <a:t>Déroulement de la Démonstration</a:t>
            </a:r>
            <a:endParaRPr b="1" i="1" sz="1600">
              <a:solidFill>
                <a:srgbClr val="2B6CB0"/>
              </a:solidFill>
              <a:latin typeface="Inter"/>
              <a:ea typeface="Inter"/>
              <a:cs typeface="Inter"/>
              <a:sym typeface="Inter"/>
            </a:endParaRPr>
          </a:p>
          <a:p>
            <a:pPr indent="-298450" lvl="0" marL="457200" rtl="0" algn="l">
              <a:lnSpc>
                <a:spcPct val="130000"/>
              </a:lnSpc>
              <a:spcBef>
                <a:spcPts val="600"/>
              </a:spcBef>
              <a:spcAft>
                <a:spcPts val="0"/>
              </a:spcAft>
              <a:buClr>
                <a:schemeClr val="dk1"/>
              </a:buClr>
              <a:buSzPts val="1100"/>
              <a:buAutoNum type="arabicPeriod"/>
            </a:pPr>
            <a:r>
              <a:rPr b="1" lang="fr" sz="1100">
                <a:solidFill>
                  <a:srgbClr val="2D3748"/>
                </a:solidFill>
                <a:latin typeface="Inter"/>
                <a:ea typeface="Inter"/>
                <a:cs typeface="Inter"/>
                <a:sym typeface="Inter"/>
              </a:rPr>
              <a:t>Schéma DB :</a:t>
            </a:r>
            <a:r>
              <a:rPr lang="fr" sz="1100">
                <a:solidFill>
                  <a:srgbClr val="2D3748"/>
                </a:solidFill>
                <a:latin typeface="Inter"/>
                <a:ea typeface="Inter"/>
                <a:cs typeface="Inter"/>
                <a:sym typeface="Inter"/>
              </a:rPr>
              <a:t> Vue d'ensemble de la structure relationnelle.</a:t>
            </a:r>
            <a:endParaRPr sz="1100">
              <a:solidFill>
                <a:srgbClr val="2D3748"/>
              </a:solidFill>
              <a:latin typeface="Inter"/>
              <a:ea typeface="Inter"/>
              <a:cs typeface="Inter"/>
              <a:sym typeface="Inter"/>
            </a:endParaRPr>
          </a:p>
          <a:p>
            <a:pPr indent="-298450" lvl="0" marL="457200" rtl="0" algn="l">
              <a:lnSpc>
                <a:spcPct val="130000"/>
              </a:lnSpc>
              <a:spcBef>
                <a:spcPts val="0"/>
              </a:spcBef>
              <a:spcAft>
                <a:spcPts val="0"/>
              </a:spcAft>
              <a:buClr>
                <a:schemeClr val="dk1"/>
              </a:buClr>
              <a:buSzPts val="1100"/>
              <a:buAutoNum type="arabicPeriod"/>
            </a:pPr>
            <a:r>
              <a:rPr b="1" lang="fr" sz="1100">
                <a:solidFill>
                  <a:srgbClr val="2D3748"/>
                </a:solidFill>
                <a:latin typeface="Inter"/>
                <a:ea typeface="Inter"/>
                <a:cs typeface="Inter"/>
                <a:sym typeface="Inter"/>
              </a:rPr>
              <a:t>Alembic :</a:t>
            </a:r>
            <a:r>
              <a:rPr lang="fr" sz="1100">
                <a:solidFill>
                  <a:srgbClr val="2D3748"/>
                </a:solidFill>
                <a:latin typeface="Inter"/>
                <a:ea typeface="Inter"/>
                <a:cs typeface="Inter"/>
                <a:sym typeface="Inter"/>
              </a:rPr>
              <a:t> Exécution d'une migration en direct.</a:t>
            </a:r>
            <a:endParaRPr sz="1100">
              <a:solidFill>
                <a:srgbClr val="2D3748"/>
              </a:solidFill>
              <a:latin typeface="Inter"/>
              <a:ea typeface="Inter"/>
              <a:cs typeface="Inter"/>
              <a:sym typeface="Inter"/>
            </a:endParaRPr>
          </a:p>
          <a:p>
            <a:pPr indent="-298450" lvl="0" marL="457200" rtl="0" algn="l">
              <a:lnSpc>
                <a:spcPct val="130000"/>
              </a:lnSpc>
              <a:spcBef>
                <a:spcPts val="0"/>
              </a:spcBef>
              <a:spcAft>
                <a:spcPts val="0"/>
              </a:spcAft>
              <a:buClr>
                <a:schemeClr val="dk1"/>
              </a:buClr>
              <a:buSzPts val="1100"/>
              <a:buAutoNum type="arabicPeriod"/>
            </a:pPr>
            <a:r>
              <a:rPr b="1" lang="fr" sz="1100">
                <a:solidFill>
                  <a:srgbClr val="2D3748"/>
                </a:solidFill>
                <a:latin typeface="Inter"/>
                <a:ea typeface="Inter"/>
                <a:cs typeface="Inter"/>
                <a:sym typeface="Inter"/>
              </a:rPr>
              <a:t>App Flask :</a:t>
            </a:r>
            <a:r>
              <a:rPr lang="fr" sz="1100">
                <a:solidFill>
                  <a:srgbClr val="2D3748"/>
                </a:solidFill>
                <a:latin typeface="Inter"/>
                <a:ea typeface="Inter"/>
                <a:cs typeface="Inter"/>
                <a:sym typeface="Inter"/>
              </a:rPr>
              <a:t> Création d'un utilisateur, inscription à un cours et déclenchement de la détection de conflit d'horaire.</a:t>
            </a:r>
            <a:endParaRPr sz="1100">
              <a:solidFill>
                <a:srgbClr val="2D3748"/>
              </a:solidFill>
              <a:latin typeface="Inter"/>
              <a:ea typeface="Inter"/>
              <a:cs typeface="Inter"/>
              <a:sym typeface="Inter"/>
            </a:endParaRPr>
          </a:p>
          <a:p>
            <a:pPr indent="0" lvl="0" marL="0" rtl="0" algn="l">
              <a:lnSpc>
                <a:spcPct val="130000"/>
              </a:lnSpc>
              <a:spcBef>
                <a:spcPts val="0"/>
              </a:spcBef>
              <a:spcAft>
                <a:spcPts val="0"/>
              </a:spcAft>
              <a:buClr>
                <a:schemeClr val="dk1"/>
              </a:buClr>
              <a:buSzPts val="1100"/>
              <a:buFont typeface="Arial"/>
              <a:buNone/>
            </a:pPr>
            <a:r>
              <a:t/>
            </a:r>
            <a:endParaRPr sz="1100">
              <a:solidFill>
                <a:srgbClr val="2D3748"/>
              </a:solidFill>
              <a:latin typeface="Inter"/>
              <a:ea typeface="Inter"/>
              <a:cs typeface="Inter"/>
              <a:sym typeface="Inter"/>
            </a:endParaRPr>
          </a:p>
          <a:p>
            <a:pPr indent="0" lvl="0" marL="0" rtl="0" algn="l">
              <a:spcBef>
                <a:spcPts val="0"/>
              </a:spcBef>
              <a:spcAft>
                <a:spcPts val="1200"/>
              </a:spcAft>
              <a:buNone/>
            </a:pPr>
            <a:r>
              <a:t/>
            </a:r>
            <a:endParaRPr/>
          </a:p>
        </p:txBody>
      </p:sp>
      <p:pic>
        <p:nvPicPr>
          <p:cNvPr descr="dot info generic top level domain concept, gtld vectory icon design, Domain for information Website Sign, Cloud computing and Internet hosting services Symbol, World Wide Web Stock Illustration (fourni par Getty Images)" id="145" name="Google Shape;145;p24"/>
          <p:cNvPicPr preferRelativeResize="0"/>
          <p:nvPr/>
        </p:nvPicPr>
        <p:blipFill>
          <a:blip r:embed="rId3">
            <a:alphaModFix/>
          </a:blip>
          <a:stretch>
            <a:fillRect/>
          </a:stretch>
        </p:blipFill>
        <p:spPr>
          <a:xfrm>
            <a:off x="6207700" y="157650"/>
            <a:ext cx="2729400" cy="15371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